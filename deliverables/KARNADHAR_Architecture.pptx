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KARNADHAR  </a:t>
            </a:r>
            <a:pPr indent="0" marL="0">
              <a:buNone/>
            </a:pPr>
            <a:r>
              <a:rPr lang="en-US" sz="150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AI Hackathon 2026 · Problem #2 · tier names map to the brief’s “What you may build”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331720" y="932688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932688"/>
            <a:ext cx="64008" cy="685800"/>
          </a:xfrm>
          <a:prstGeom prst="rect">
            <a:avLst/>
          </a:prstGeom>
          <a:solidFill>
            <a:srgbClr val="4B96DC"/>
          </a:solidFill>
          <a:ln/>
        </p:spPr>
      </p:sp>
      <p:sp>
        <p:nvSpPr>
          <p:cNvPr id="7" name="Text 5"/>
          <p:cNvSpPr/>
          <p:nvPr/>
        </p:nvSpPr>
        <p:spPr>
          <a:xfrm>
            <a:off x="2478024" y="97840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GDELT news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coverage-volume, cached real series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932688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932688"/>
            <a:ext cx="64008" cy="685800"/>
          </a:xfrm>
          <a:prstGeom prst="rect">
            <a:avLst/>
          </a:prstGeom>
          <a:solidFill>
            <a:srgbClr val="4B96DC"/>
          </a:solidFill>
          <a:ln/>
        </p:spPr>
      </p:sp>
      <p:sp>
        <p:nvSpPr>
          <p:cNvPr id="10" name="Text 8"/>
          <p:cNvSpPr/>
          <p:nvPr/>
        </p:nvSpPr>
        <p:spPr>
          <a:xfrm>
            <a:off x="4398264" y="97840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vessels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aisstream live ships per chokepoint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932688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932688"/>
            <a:ext cx="64008" cy="685800"/>
          </a:xfrm>
          <a:prstGeom prst="rect">
            <a:avLst/>
          </a:prstGeom>
          <a:solidFill>
            <a:srgbClr val="F2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318504" y="9784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DGCIS trade records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refinery × country × qty × value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932688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932688"/>
            <a:ext cx="64008" cy="685800"/>
          </a:xfrm>
          <a:prstGeom prst="rect">
            <a:avLst/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9784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PPAC · ISPRL · EIA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capacities, SPR, chokepoint flows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149840" y="932688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932688"/>
            <a:ext cx="64008" cy="685800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19" name="Text 17"/>
          <p:cNvSpPr/>
          <p:nvPr/>
        </p:nvSpPr>
        <p:spPr>
          <a:xfrm>
            <a:off x="10296144" y="9784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 assays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· sulphur · asphaltene (SARA)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61304" y="17099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17282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→ normalise → cache (live / labelled fallback)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31720" y="2029968"/>
            <a:ext cx="9509760" cy="310896"/>
          </a:xfrm>
          <a:prstGeom prst="roundRect">
            <a:avLst>
              <a:gd name="adj" fmla="val 17647"/>
            </a:avLst>
          </a:prstGeom>
          <a:solidFill>
            <a:srgbClr val="10151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20299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— chains the agents, times every stage (45 ms end-to-end)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31720" y="2432304"/>
            <a:ext cx="224028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2432304"/>
            <a:ext cx="64008" cy="841248"/>
          </a:xfrm>
          <a:prstGeom prst="rect">
            <a:avLst/>
          </a:prstGeom>
          <a:solidFill>
            <a:srgbClr val="4B96DC"/>
          </a:solidFill>
          <a:ln/>
        </p:spPr>
      </p:sp>
      <p:sp>
        <p:nvSpPr>
          <p:cNvPr id="27" name="Text 25"/>
          <p:cNvSpPr/>
          <p:nvPr/>
        </p:nvSpPr>
        <p:spPr>
          <a:xfrm>
            <a:off x="2478024" y="2478024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Risk Agent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× spike alert rule; 12-day-lead backtest (real GDELT)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2432304"/>
            <a:ext cx="224028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432304"/>
            <a:ext cx="64008" cy="841248"/>
          </a:xfrm>
          <a:prstGeom prst="rect">
            <a:avLst/>
          </a:prstGeom>
          <a:solidFill>
            <a:srgbClr val="F2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809744" y="2478024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Scenario Modeller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scenarios: block any chokepoint AND/OR sanction any supplier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995160" y="2432304"/>
            <a:ext cx="251460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2432304"/>
            <a:ext cx="64008" cy="84124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33" name="Text 31"/>
          <p:cNvSpPr/>
          <p:nvPr/>
        </p:nvSpPr>
        <p:spPr>
          <a:xfrm>
            <a:off x="7141464" y="247802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Procurement Orchestrator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grade-aware LP → ranked routes, shadow prices, VLCC ton-mile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601200" y="2432304"/>
            <a:ext cx="224028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2432304"/>
            <a:ext cx="64008" cy="841248"/>
          </a:xfrm>
          <a:prstGeom prst="rect">
            <a:avLst/>
          </a:prstGeom>
          <a:solidFill>
            <a:srgbClr val="E85A58"/>
          </a:solidFill>
          <a:ln/>
        </p:spPr>
      </p:sp>
      <p:sp>
        <p:nvSpPr>
          <p:cNvPr id="36" name="Text 34"/>
          <p:cNvSpPr/>
          <p:nvPr/>
        </p:nvSpPr>
        <p:spPr>
          <a:xfrm>
            <a:off x="9747504" y="2478024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Agent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memo — LLM writes words, never numbers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861304" y="3319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37673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ENGINE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(GLASS BOX)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331720" y="3602736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3602736"/>
            <a:ext cx="64008" cy="841248"/>
          </a:xfrm>
          <a:prstGeom prst="rect">
            <a:avLst/>
          </a:prstGeom>
          <a:solidFill>
            <a:srgbClr val="F2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2478024" y="364845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refinery model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refineries, diets &amp; configs DERIVED from DGCIS + Nelson complexity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0" y="3602736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3602736"/>
            <a:ext cx="64008" cy="841248"/>
          </a:xfrm>
          <a:prstGeom prst="rect">
            <a:avLst/>
          </a:prstGeom>
          <a:solidFill>
            <a:srgbClr val="E85A58"/>
          </a:solidFill>
          <a:ln/>
        </p:spPr>
      </p:sp>
      <p:sp>
        <p:nvSpPr>
          <p:cNvPr id="44" name="Text 42"/>
          <p:cNvSpPr/>
          <p:nvPr/>
        </p:nvSpPr>
        <p:spPr>
          <a:xfrm>
            <a:off x="5175504" y="364845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Channel-aware cascade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Hormuz = global shock; sanction = discount-loss; twin-deficit CAD + multi-commodity IVX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452360" y="3602736"/>
            <a:ext cx="224028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2360" y="3602736"/>
            <a:ext cx="64008" cy="841248"/>
          </a:xfrm>
          <a:prstGeom prst="rect">
            <a:avLst/>
          </a:prstGeom>
          <a:solidFill>
            <a:srgbClr val="4B96DC"/>
          </a:solidFill>
          <a:ln/>
        </p:spPr>
      </p:sp>
      <p:sp>
        <p:nvSpPr>
          <p:cNvPr id="47" name="Text 45"/>
          <p:cNvSpPr/>
          <p:nvPr/>
        </p:nvSpPr>
        <p:spPr>
          <a:xfrm>
            <a:off x="7598664" y="364845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drawdown scheduler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/ bridge / ration; runway vs voyage bridge (Strategic Reserve)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784080" y="3602736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84080" y="3602736"/>
            <a:ext cx="64008" cy="84124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50" name="Text 48"/>
          <p:cNvSpPr/>
          <p:nvPr/>
        </p:nvSpPr>
        <p:spPr>
          <a:xfrm>
            <a:off x="9930384" y="364845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suite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62/62 falsifiable checks, exit-code gated, in CI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861304" y="44897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20040" y="49560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331720" y="4773168"/>
            <a:ext cx="566928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4773168"/>
            <a:ext cx="64008" cy="841248"/>
          </a:xfrm>
          <a:prstGeom prst="rect">
            <a:avLst/>
          </a:prstGeom>
          <a:solidFill>
            <a:srgbClr val="A78BDB"/>
          </a:solidFill>
          <a:ln/>
        </p:spPr>
      </p:sp>
      <p:sp>
        <p:nvSpPr>
          <p:cNvPr id="55" name="Text 53"/>
          <p:cNvSpPr/>
          <p:nvPr/>
        </p:nvSpPr>
        <p:spPr>
          <a:xfrm>
            <a:off x="2478024" y="4818888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War-room — Supply Chain Digital Twin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MapLibre: 3D globe / 2D, animated optimizer flows, reroute deep-dive (ranked #1..N), knowledge graph, multi-commodity lens (~45 ms recompute)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092440" y="4773168"/>
            <a:ext cx="3749040" cy="841248"/>
          </a:xfrm>
          <a:prstGeom prst="roundRect">
            <a:avLst>
              <a:gd name="adj" fmla="val 6522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2440" y="4773168"/>
            <a:ext cx="64008" cy="841248"/>
          </a:xfrm>
          <a:prstGeom prst="rect">
            <a:avLst/>
          </a:prstGeom>
          <a:solidFill>
            <a:srgbClr val="A78BDB"/>
          </a:solidFill>
          <a:ln/>
        </p:spPr>
      </p:sp>
      <p:sp>
        <p:nvSpPr>
          <p:cNvPr id="58" name="Text 56"/>
          <p:cNvSpPr/>
          <p:nvPr/>
        </p:nvSpPr>
        <p:spPr>
          <a:xfrm>
            <a:off x="8238744" y="481888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 + JSON export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/api/pipeline · /api/geo · /api/scenario — same engine, headless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5861304" y="5660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20040" y="6126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2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USERS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331720" y="59436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31720" y="5943600"/>
            <a:ext cx="64008" cy="685800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63" name="Text 61"/>
          <p:cNvSpPr/>
          <p:nvPr/>
        </p:nvSpPr>
        <p:spPr>
          <a:xfrm>
            <a:off x="2478024" y="5989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reroute plan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refinery-by-refinery, executable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4800600" y="59436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5943600"/>
            <a:ext cx="64008" cy="685800"/>
          </a:xfrm>
          <a:prstGeom prst="rect">
            <a:avLst/>
          </a:prstGeom>
          <a:solidFill>
            <a:srgbClr val="F2A623"/>
          </a:solidFill>
          <a:ln/>
        </p:spPr>
      </p:sp>
      <p:sp>
        <p:nvSpPr>
          <p:cNvPr id="66" name="Text 64"/>
          <p:cNvSpPr/>
          <p:nvPr/>
        </p:nvSpPr>
        <p:spPr>
          <a:xfrm>
            <a:off x="4946904" y="5989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shortfall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reroute can’t cover → rationing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7178040" y="594360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78040" y="5943600"/>
            <a:ext cx="64008" cy="685800"/>
          </a:xfrm>
          <a:prstGeom prst="rect">
            <a:avLst/>
          </a:prstGeom>
          <a:solidFill>
            <a:srgbClr val="E85A58"/>
          </a:solidFill>
          <a:ln/>
        </p:spPr>
      </p:sp>
      <p:sp>
        <p:nvSpPr>
          <p:cNvPr id="69" name="Text 67"/>
          <p:cNvSpPr/>
          <p:nvPr/>
        </p:nvSpPr>
        <p:spPr>
          <a:xfrm>
            <a:off x="7324344" y="5989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signal→action in one page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9464040" y="59436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121926"/>
          </a:solidFill>
          <a:ln w="9525">
            <a:solidFill>
              <a:srgbClr val="2430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64040" y="5943600"/>
            <a:ext cx="64008" cy="685800"/>
          </a:xfrm>
          <a:prstGeom prst="rect">
            <a:avLst/>
          </a:prstGeom>
          <a:solidFill>
            <a:srgbClr val="4B96DC"/>
          </a:solidFill>
          <a:ln/>
        </p:spPr>
      </p:sp>
      <p:sp>
        <p:nvSpPr>
          <p:cNvPr id="72" name="Text 70"/>
          <p:cNvSpPr/>
          <p:nvPr/>
        </p:nvSpPr>
        <p:spPr>
          <a:xfrm>
            <a:off x="9610344" y="5989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Refiners · traders · PPAC/ISPRL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first, sovereign anchor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2026-07-22T06:58:20Z</dcterms:created>
  <dcterms:modified xsi:type="dcterms:W3CDTF">2026-07-22T06:58:20Z</dcterms:modified>
</cp:coreProperties>
</file>