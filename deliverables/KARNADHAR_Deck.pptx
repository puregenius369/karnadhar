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India runs on imported crude — 88%. Nearly half sails through a strait 3km wide at its narrowest. In June 2025 the world watched Hormuz almost close. KARNADHAR is our answer: an AI that watches the world, models the shock, and reroutes the country’s crude —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tell the story. 88% imported. 46% through one strait — and we didn’t copy that number from a report, our system derives it from official customs records. Reserves: 9.5 days, voluntary. And when Hormuz was threatened last June, Brent jumped 8% in one session. The deep problem is the twin deficit — India cannot pay for expensive crude in dollars for long. That’s the insight an ORF Distinguished Fellow validated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wedge. Everyone modeling this problem treats oil as fungible. It is not. Three properties decide whether a refinery can run a barrel — API gravity, sulphur, and asphaltene content, the SARA insight Prof. Bhui gave us. Jamnagar with Nelson complexity 21 can digest nearly anything; Mumbai at Nelson 7 cannot touch sour crude. Any reroute plan that ignores this is fiction.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specialist agents chained by an orchestrator. The signal layer ingests real GDELT news and real AIS ship positions. The scenario layer is a glass-box economic cascade. The reroute layer is a real linear-programming optimizer over each refinery’s actual diet. And the briefing layer writes the memo — the LLM handles words, never numbers. The whole chain runs in 45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heart of our credibility. These are not estimates — this is what each refinery actually imported last year, from official customs records. Vadinar runs 56% Russian crude and is only 29% Hormuz-exposed. Mumbai is 60% exposed. Our headline 46% national exposure is computed from this data — most teams will quote a number from a report; we derive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 the same crisis through two planners. The naive planner — price-rational, supply-respecting, but grade-blind — produces a plan where 250,000 barrels a day go to refineries that cannot process them. It is infeasible for a grade reason, which is exactly our thesis. KARNADHAR’s linear program produces a fully feasible plan and protects over 3 million dollars a day of product yield — over a billion dollars a year. And the same failure mode reproduces on the real customs-data model — different numbers, same physics, which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early-warning agent watches global news coverage of every chokepoint. In the real June 2025 data, coverage exploded to 200 times baseline. Our alert rule — deliberately simple and explainable — fired on June 11th, twelve days before the Brent 8% session. And it cross-confirms with live ship-tracking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demands explicit, testable assumptions — so our cascade is a glass box. Notice the flat segment: a 25% closure is absorbed by the Saudi and UAE bypass pipelines — the model knows that nuance. At full closure: Brent 190, petrol above 125 rupees, and the number that matters most — the current-account deficit exploding past 6% of GDP. India can’t sustain that dollar outflow. That’s why speed of response is a national-security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generalizes — any chokepoint, any supplier sanction, any combination, all on the real customs-data model. Notice two things no dashboard gives you. First, honesty: in the compound shock the naive plan pretends to fill the gap with 546,000 barrels a day of crude the refineries cannot run; we count only usable barrels and state the true shortfall — 2,166. Second, the decision layer: the optimizer prices the reroute in tankers — plus 66 VLCC-equivalents — and its shadow prices name the scarcest barrel. That is what makes it usable for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product. Next.js and MapLibre over a FastAPI engine. The globe is live — the red routes are the Gulf corridors dying when Hormuz closes; the green ones are the alternates KARNADHAR is re-routing through. Click a scenario and the entire national plan re-solves in tens of milliseconds, measured live in-app. And under every scenario sits the decision layer: the LP’s shadow prices naming the scarcest barrel, the usable-shortfall honesty metric, and the tanker cost of longer voyages.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of trust. A validation suite — 45 falsifiable assertions about the engine’s behaviour, all green, one command, and run automatically in CI on every push to the public repo. Full coverage of the brief’s five evaluation-focus criteria. And two independent domain experts — a Distinguished Fellow at ORF for the economics, and a PDEU petroleum professor for the refining science — reviewed our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this a business? The market already pays billions for energy intelligence — Kpler, Vortexa, Wood Mackenzie. But they sell monitoring. We sell the decision. Seven buyer segments, starting with refiners and traders. Fifty-plus import-dependent countries share India’s anatomy. And the engine is commodity-agnostic — crude today, LNG and critical minerals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everything you saw runs today — real data, real signals, provable results, expert-reviewed. India’s energy lifeline has no helmsman for the storm. Now it does.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map_hormu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46542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4654296"/>
          </a:xfrm>
          <a:prstGeom prst="rect">
            <a:avLst/>
          </a:prstGeom>
          <a:solidFill>
            <a:srgbClr val="0B0F15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AI HACKATHON 2026  ·  PHASE 2  ·  PROBLEM #2 — ENERGY SUPPLY-CHAIN RESILIENCE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कर्णधार — the helmsman who steers the ship through the storm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imports 88% of its crude. Nearly half transits one strait.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 is the AI command center that turns a 47-day supply crisis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decision made in 45 milliseconds — grade-by-grade, refinery-by-refinery.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30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 Sutariya</a:t>
            </a:r>
            <a:pPr indent="0" marL="0">
              <a:buNone/>
            </a:pPr>
            <a:r>
              <a:rPr lang="en-US" sz="13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Pandit Deendayal Energy University, Gandhinagar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61441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reviewed with: Lydia Powell (ORF)  ·  Prof. U. K. Bhui (PDEU)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strait can strangle the world’s 3rd-largest oil importer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8424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4261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India’s crude is imported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8424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4261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transits the Strait of Hormuz — derived from official trade records, not assumed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8424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B9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 days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64261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strategic reserve cover — voluntary, vs the IEA’s 90-day norm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8424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64261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in a single session when Hormuz was threatened (June 2025)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2103120"/>
          </a:xfrm>
          <a:prstGeom prst="roundRect">
            <a:avLst>
              <a:gd name="adj" fmla="val 3043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1480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real constraint isn’t barrels — it’s dollars.
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is a twin-deficit economy. A sustained price shock adds ~$190 bn/yr to the import bill, blowing the current-account deficit from 1.2% to over 6% of GDP. Unlike trade-surplus Japan or Korea, India cannot sustain that dollar outflow — which is why unprepared economies take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days longer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stabilise supply (McKinsey). The data to act exists. The intelligence layer to act on it does not.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DGCIS trade records (May 2025–Apr 2026) · PPAC · ISPRL · EIA · twin-deficit framing reviewed with Lydia Powell, Distinguished Fellow, ORF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EVERYONE MISSES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oil is not fungible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“resilience dashboard” treats oil as one number: barrels.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a refinery is an engine tuned to a fuel.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deep-conversion coking refinery built for heavy, sour, asphaltene-rich crude physically cannot run ultra-light condensate — and a simple refinery cannot digest sour crude. When Hormuz closes, the question is not “where do we buy oil?” It is “which exact grade can each of our refineries actually run — and who has it?”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852160" cy="1554480"/>
          </a:xfrm>
          <a:prstGeom prst="roundRect">
            <a:avLst>
              <a:gd name="adj" fmla="val 4118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8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i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“That is — you are perfectly right.”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U. K. Bhui, Petroleum Engineering, PDEU — on our refinery-constrained sourcing thesis. His guidance added the SARA dimension (asphaltenes) to our crude model.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0"/>
            <a:ext cx="4873752" cy="2103120"/>
          </a:xfrm>
          <a:prstGeom prst="roundRect">
            <a:avLst>
              <a:gd name="adj" fmla="val 3043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82880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DECIDES IF A BARREL IS RUNNABLE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2258568"/>
            <a:ext cx="201168" cy="201168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424928" y="2212848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gravity  </a:t>
            </a:r>
            <a:pPr indent="0" marL="0"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light vs heavy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2734056"/>
            <a:ext cx="201168" cy="201168"/>
          </a:xfrm>
          <a:prstGeom prst="ellipse">
            <a:avLst/>
          </a:prstGeom>
          <a:solidFill>
            <a:srgbClr val="E85A58"/>
          </a:solidFill>
          <a:ln/>
        </p:spPr>
      </p:sp>
      <p:sp>
        <p:nvSpPr>
          <p:cNvPr id="12" name="Text 10"/>
          <p:cNvSpPr/>
          <p:nvPr/>
        </p:nvSpPr>
        <p:spPr>
          <a:xfrm>
            <a:off x="7424928" y="2688336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Sulphur  </a:t>
            </a:r>
            <a:pPr indent="0" marL="0"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sweet vs sour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3209544"/>
            <a:ext cx="201168" cy="201168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4" name="Text 12"/>
          <p:cNvSpPr/>
          <p:nvPr/>
        </p:nvSpPr>
        <p:spPr>
          <a:xfrm>
            <a:off x="7424928" y="316382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Asphaltene (SARA)  </a:t>
            </a:r>
            <a:pPr indent="0" marL="0"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coke precursor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3977640"/>
            <a:ext cx="4873752" cy="2148840"/>
          </a:xfrm>
          <a:prstGeom prst="roundRect">
            <a:avLst>
              <a:gd name="adj" fmla="val 2979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1605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COUNTRY, DIFFERENT MACHINES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452628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 Jamnagar  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Nelson 21.1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almost anything — needs heavy feed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530352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BPCL/HPCL Mumbai  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Nelson 7.0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sweeter diet only — sour is a hard limit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brain: signal → scenario → reroute → brief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395728" cy="1737360"/>
          </a:xfrm>
          <a:prstGeom prst="roundRect">
            <a:avLst>
              <a:gd name="adj" fmla="val 3684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920240"/>
            <a:ext cx="2395728" cy="109728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194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9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" y="2697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 news agent +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AIS ship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90088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38144" y="1920240"/>
            <a:ext cx="2395728" cy="1737360"/>
          </a:xfrm>
          <a:prstGeom prst="roundRect">
            <a:avLst>
              <a:gd name="adj" fmla="val 3684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1920240"/>
            <a:ext cx="2395728" cy="109728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2194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75304" y="2697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glass-box economic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+ twin deficit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61304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395728" cy="1737360"/>
          </a:xfrm>
          <a:prstGeom prst="roundRect">
            <a:avLst>
              <a:gd name="adj" fmla="val 3684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920240"/>
            <a:ext cx="2395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94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697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grade-aware LP optimizer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real refinery diets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2520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180576" y="1920240"/>
            <a:ext cx="2395728" cy="1737360"/>
          </a:xfrm>
          <a:prstGeom prst="roundRect">
            <a:avLst>
              <a:gd name="adj" fmla="val 3684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1920240"/>
            <a:ext cx="2395728" cy="109728"/>
          </a:xfrm>
          <a:prstGeom prst="rect">
            <a:avLst/>
          </a:prstGeom>
          <a:solidFill>
            <a:srgbClr val="E85A58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2194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17736" y="269748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decision memo,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from the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105656"/>
            <a:ext cx="164592" cy="164592"/>
          </a:xfrm>
          <a:prstGeom prst="ellipse">
            <a:avLst/>
          </a:prstGeom>
          <a:solidFill>
            <a:srgbClr val="4B96DC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0416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public data — no synthetic signals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581144"/>
            <a:ext cx="164592" cy="164592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5171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Explicit, testable assumptions (every parameter named &amp; editable)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056632"/>
            <a:ext cx="164592" cy="164592"/>
          </a:xfrm>
          <a:prstGeom prst="ellipse">
            <a:avLst/>
          </a:prstGeom>
          <a:solidFill>
            <a:srgbClr val="A78BDB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99262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graph: supplier → route → chokepoint → refinery (50 nodes, 163 edges)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5532120"/>
            <a:ext cx="164592" cy="164592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4681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words, never numbers — engine stays auditable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21040" y="4023360"/>
            <a:ext cx="3319272" cy="1920240"/>
          </a:xfrm>
          <a:prstGeom prst="roundRect">
            <a:avLst>
              <a:gd name="adj" fmla="val 3333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224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ms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412480" y="48828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signal to executable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49640" y="5349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the 47-day average for economies without response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official trade records — not synthetic data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8638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77240"/>
                <a:gridCol w="777240"/>
                <a:gridCol w="14173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3A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Refinery (port)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93A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MT/yr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93A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Nelson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93A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Hormuz exposure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3A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real suppliers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RIL Jamnagar (Sikka + SEZ)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2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Russia 35 · Saudi 17 · Iraq 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Nayara Vadinar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DCA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Russia 56 · Iraq 18 · Angola 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IOCL Paradip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2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Iraq 24 · Russia 21 · UAE 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HMEL Bathinda (Mundra)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2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Russia 32 · Saudi 18 · Iraq 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BPCL/HPCL Mumbai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85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Saudi 25 · UAE 23 · US 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BPCL Kochi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85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Russia 31 · UAE 23 · Iraq 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691640"/>
            <a:ext cx="2953512" cy="1828800"/>
          </a:xfrm>
          <a:prstGeom prst="roundRect">
            <a:avLst>
              <a:gd name="adj" fmla="val 3500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778240" y="2532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Hormuz exposure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customs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0" y="3703320"/>
            <a:ext cx="2953512" cy="1463040"/>
          </a:xfrm>
          <a:prstGeom prst="roundRect">
            <a:avLst>
              <a:gd name="adj" fmla="val 4375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× 36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778240" y="44988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refineries × supplier grades,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volumes &amp; landed prices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refinery’s crude diet, Hormuz dependence, and even its processing limits are grounded in what it actually imported — DGCIS port-wise records, PPAC capacities, public Nelson complexity, crude assay libraries.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DGCIS “India’s Import by Principal Commodity” May 2025–Apr 2026 · port→refinery mapping · country→grade assay mapping (crudemonitor/BP/ENI)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“fungible” plan is physically impossible. Ours is not.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834640"/>
          </a:xfrm>
          <a:prstGeom prst="roundRect">
            <a:avLst>
              <a:gd name="adj" fmla="val 2258"/>
            </a:avLst>
          </a:prstGeom>
          <a:solidFill>
            <a:srgbClr val="1A1114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 ·  “oil is oil”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INFEASIBLE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kb/d of ultra-light condensate assigned to deep coking refineries that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cannot run it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grade failure — not a logistics failure. This is the plan a fungible model would execute.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2834640"/>
          </a:xfrm>
          <a:prstGeom prst="roundRect">
            <a:avLst>
              <a:gd name="adj" fmla="val 2258"/>
            </a:avLst>
          </a:prstGeom>
          <a:solidFill>
            <a:srgbClr val="0E1A17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  ·  grade-aware LP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barrel runnable, sourced, within desulphurisation and asphaltene capacity. Heavy-sour rationed to the cokers (Jamnagar, Paradip); light-sweet routed to simple refineries (Mumbai, Chennai).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by a procurement desk.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3538728" cy="1325880"/>
          </a:xfrm>
          <a:prstGeom prst="roundRect">
            <a:avLst>
              <a:gd name="adj" fmla="val 4828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29200"/>
            <a:ext cx="3355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$3.15 M/day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568756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yield protected by grade-matching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25112" y="4892040"/>
            <a:ext cx="3538728" cy="1325880"/>
          </a:xfrm>
          <a:prstGeom prst="roundRect">
            <a:avLst>
              <a:gd name="adj" fmla="val 4828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5029200"/>
            <a:ext cx="3355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~$1.15 bn/yr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16552" y="568756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value of that decision quality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4892040"/>
            <a:ext cx="3538728" cy="1325880"/>
          </a:xfrm>
          <a:prstGeom prst="roundRect">
            <a:avLst>
              <a:gd name="adj" fmla="val 4828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5029200"/>
            <a:ext cx="3355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9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1,370 kb/d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93024" y="5687568"/>
            <a:ext cx="3355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re-sourced across 10 refineries in one solve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stress-demo (15 grades × 7 refineries, public assays) — the wedge REPRODUCES on the real DGCIS model: sulphur-blend breach at Vizag; 220 kb/d un-runnable under sanctions (next slides)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FOCUS 1 · DISRUPTION SIGNAL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saw the June 2025 Hormuz crisis 12 days before the market</a:t>
            </a:r>
            <a:endParaRPr lang="en-US" sz="3100" dirty="0"/>
          </a:p>
        </p:txBody>
      </p:sp>
      <p:pic>
        <p:nvPicPr>
          <p:cNvPr id="4" name="Image 0" descr="assets/signa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595360" cy="35387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09760" y="2011680"/>
            <a:ext cx="2130552" cy="3017520"/>
          </a:xfrm>
          <a:prstGeom prst="roundRect">
            <a:avLst>
              <a:gd name="adj" fmla="val 3004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55480" y="2240280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days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555480" y="2898648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lead over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+8% session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55480" y="3520440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200×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555480" y="4178808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news coverage vs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baseline (real GDELT)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10-day rolling baseline → alert when coverage sustains ≥3× baseline for 2 days. Simple, explainable, testable — and fused with live AIS tanker traffic (congestion flags at chokepoints) for multi-source confirmation.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GDELT DOC 2.0 coverage-volume series, cached 1–14 June 2025 · backtest vs 23 June Brent session · aisstream.io live vessel feed (Malacca verified live)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FOCUS 3 · SCENARIO MODEL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glass-box cascade — ending in the deficit India cannot pay</a:t>
            </a:r>
            <a:endParaRPr lang="en-US" sz="3100" dirty="0"/>
          </a:p>
        </p:txBody>
      </p:sp>
      <p:pic>
        <p:nvPicPr>
          <p:cNvPr id="4" name="Image 0" descr="assets/cascad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7818120" cy="3346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783080"/>
            <a:ext cx="2907792" cy="960120"/>
          </a:xfrm>
          <a:prstGeom prst="roundRect">
            <a:avLst>
              <a:gd name="adj" fmla="val 6667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23960" y="18745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₹125.5/L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823960" y="22860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fuel at full closure (+₹25.5)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732520" y="2862072"/>
            <a:ext cx="2907792" cy="960120"/>
          </a:xfrm>
          <a:prstGeom prst="roundRect">
            <a:avLst>
              <a:gd name="adj" fmla="val 6667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295351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9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 pp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23960" y="336499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drag · +2.0 pp CPI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732520" y="3941064"/>
            <a:ext cx="2907792" cy="960120"/>
          </a:xfrm>
          <a:prstGeom prst="roundRect">
            <a:avLst>
              <a:gd name="adj" fmla="val 6667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23960" y="4032504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$191 bn/yr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23960" y="444398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import bill in USD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5020056"/>
            <a:ext cx="2907792" cy="960120"/>
          </a:xfrm>
          <a:prstGeom prst="roundRect">
            <a:avLst>
              <a:gd name="adj" fmla="val 6667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51114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 → 6.1%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823960" y="552297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current-account deficit, % of GDP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5486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parameter is named, sourced and editable; sensitivity is one function call. “The binding constraint is the balance of payments, not the barrels” — the twin-deficit reframe came from our review with ORF.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Cascade: closure → net shortfall (after Saudi/UAE pipeline bypass) → Brent → import bill → pump price → CPI/GDP → CAD · reviewed with Lydia Powell, ORF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ONE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any chokepoint. Sanction any supplier. Model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98755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full 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470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naive: INFEASIBLE — blend breaches Vizag’s sulphur limit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0" y="18470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KARNADHAR: FEASIBLE — and priced: the reroute ties up +66 VLCC-equivalents (ton-mile)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52928"/>
            <a:ext cx="109728" cy="987552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6265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+ OPEC+ squeeze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96265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suppliers squeezed to 60% of headroom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2962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feasible — grade-matching value rises to $1.95M/day of protected yield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68496"/>
            <a:ext cx="109728" cy="987552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7822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sanctioned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407822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sends 220 kb/d to refineries that cannot run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407822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shortfall 220 → 0 — India’s #1 supplier is replaceable, at a price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84064"/>
            <a:ext cx="109728" cy="987552"/>
          </a:xfrm>
          <a:prstGeom prst="rect">
            <a:avLst/>
          </a:prstGeom>
          <a:solidFill>
            <a:srgbClr val="E85A5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937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+ Russia (compound)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51937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nightmare: 3,900 kb/d gap, 2 of top 3 suppliers gone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51937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honest: 2,166 kb/d unmet, quantified — naive pretends, with 546 kb/d of fake fill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engine: when a shock is too severe to reroute around, KARNADHAR quantifies the gap instead of pretending — because “you must cut demand by X” is the most decision-useful output there is.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FOCUS 4 · GEOSPATIAL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war-room: India’s energy lifeline, live on one screen</a:t>
            </a:r>
            <a:endParaRPr lang="en-US" sz="3100" dirty="0"/>
          </a:p>
        </p:txBody>
      </p:sp>
      <p:pic>
        <p:nvPicPr>
          <p:cNvPr id="4" name="Image 0" descr="captures/globe_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769864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769864" cy="4572000"/>
          </a:xfrm>
          <a:prstGeom prst="rect">
            <a:avLst/>
          </a:prstGeom>
          <a:ln w="12700">
            <a:solidFill>
              <a:srgbClr val="24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29400" y="1819656"/>
            <a:ext cx="182880" cy="18288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7" name="Text 4"/>
          <p:cNvSpPr/>
          <p:nvPr/>
        </p:nvSpPr>
        <p:spPr>
          <a:xfrm>
            <a:off x="6931152" y="17830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3D globe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globe projection with real AIS vessels; refineries sized &amp; coloured by real data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29400" y="2734056"/>
            <a:ext cx="182880" cy="182880"/>
          </a:xfrm>
          <a:prstGeom prst="ellipse">
            <a:avLst/>
          </a:prstGeom>
          <a:solidFill>
            <a:srgbClr val="E85A58"/>
          </a:solidFill>
          <a:ln/>
        </p:spPr>
      </p:sp>
      <p:sp>
        <p:nvSpPr>
          <p:cNvPr id="9" name="Text 6"/>
          <p:cNvSpPr/>
          <p:nvPr/>
        </p:nvSpPr>
        <p:spPr>
          <a:xfrm>
            <a:off x="6931152" y="2697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vs alive routes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supply corridor recolours the instant a scenario changes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29400" y="3648456"/>
            <a:ext cx="182880" cy="182880"/>
          </a:xfrm>
          <a:prstGeom prst="ellipse">
            <a:avLst/>
          </a:prstGeom>
          <a:solidFill>
            <a:srgbClr val="A78BDB"/>
          </a:solidFill>
          <a:ln/>
        </p:spPr>
      </p:sp>
      <p:sp>
        <p:nvSpPr>
          <p:cNvPr id="11" name="Text 8"/>
          <p:cNvSpPr/>
          <p:nvPr/>
        </p:nvSpPr>
        <p:spPr>
          <a:xfrm>
            <a:off x="6931152" y="36118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Knowledge-graph view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to the 50-node supplier→strait→refinery graph; threat edges glow per scenario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29400" y="4562856"/>
            <a:ext cx="182880" cy="182880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45262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Multi-commodity lens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disruption scored across 8 strategic imports — Hormuz hits 53% of LNG too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29400" y="5477256"/>
            <a:ext cx="182880" cy="18288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5" name="Text 12"/>
          <p:cNvSpPr/>
          <p:nvPr/>
        </p:nvSpPr>
        <p:spPr>
          <a:xfrm>
            <a:off x="6931152" y="54406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shadow prices, usable shortfall, VLCC ton-mile cost — live on every scenario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CAN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evaluated, and reviewed by domain experts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45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passed — one command, exit-code gated, run in CI on every 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holds: naive infeasible for grade reasons, LP optimal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monotonic; bypass nuance; twin-deficit wired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alert precedes market repricing on real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real-diet integrity: 46% exposure, configs sane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admits unmet demand under compound shocks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 proven: shadow prices · VLCC ton-mile · usable shortfall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multi-commodity lens generalises (8 imports, one framework)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FOCUS — ALL FIVE, COVERED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EF-1   signal lead time: 12 days, real GDELT + AIS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EF-2   procurement executability: feasible, grade-matched plans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EF-3   scenario fidelity: explicit, testable, sensitivity-swept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EF-4   geospatial depth: live routed map, real diets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EF-5   response time: 45 ms signal → recommendation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93192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10151E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4434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Lydia Powell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Distinguished Fellow, ORF: twin-deficit framing; SPR-as-voluntary-insurance; sourcing-first policy sequence.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U. K. Bhui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Petroleum Engg., PDEU: wedge validated (“you are perfectly right”); SARA/asphaltene dimension added on his guidance.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tell you what’s happening. We tell you what to do.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Kpler, Vortexa, S&amp;P and Wood Mackenzie built a multi-billion-dollar market selling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KARNADHAR sells the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feasible, grade-aware action plan — AI-native and India-first.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900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Refiners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IOCL · BPCL · HPCL · RIL · Nayara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9900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desks living on disruption signals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Shippers &amp; insurers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chokepoint risk = pricing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37560" y="4050792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PPAC · ISPRL · MoPNG — the anchor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AXES OF SCALE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5239512" cy="896112"/>
          </a:xfrm>
          <a:prstGeom prst="roundRect">
            <a:avLst>
              <a:gd name="adj" fmla="val 7143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971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Segments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 → trader → insurer → sovereign (same engine, 7 buyer types)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913632"/>
            <a:ext cx="5239512" cy="896112"/>
          </a:xfrm>
          <a:prstGeom prst="roundRect">
            <a:avLst>
              <a:gd name="adj" fmla="val 7143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0050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Geography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import-dependent economies share this exact anatomy — Japan, Korea, Turkey, Philippines…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4946904"/>
            <a:ext cx="5239512" cy="896112"/>
          </a:xfrm>
          <a:prstGeom prst="roundRect">
            <a:avLst>
              <a:gd name="adj" fmla="val 7143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503834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B9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Commodity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LIVE in-app: 8 strategic imports screened — LNG, pharma APIs, semiconductors… (Hormuz hits 53% of LNG)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tiered SaaS — Monitor → Simulate → Orchestrate — plus API licensing. Land commercial desks first (months, not years); the sovereign deployment is the moat and the mission.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map_hormuz.jpg">    </p:cNvPr>
          <p:cNvPicPr>
            <a:picLocks noChangeAspect="1"/>
          </p:cNvPicPr>
          <p:nvPr/>
        </p:nvPicPr>
        <p:blipFill>
          <a:blip r:embed="rId1"/>
          <a:srcRect l="0" r="0" t="0" b="28977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5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Refinery configs calibrated with Prof. Bhui’s written inputs (in progress)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AIS feed for dense Gulf coverage; Claude-authored live briefs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conversations: PPAC · ISPRL — the analysis they do in days, in 45 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energy lifeline has no helmsman for the storm.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it does.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</a:t>
            </a:r>
            <a:pPr indent="0" marL="0">
              <a:buNone/>
            </a:pPr>
            <a:r>
              <a:rPr lang="en-US" sz="13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Mann Sutariya · PDEU · mannsutaria2605@gmail.com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KARNADHAR — Energy Supply-Chain Resilience</dc:title>
  <dc:subject>PptxGenJS Presentation</dc:subject>
  <dc:creator>Team KARNADHAR</dc:creator>
  <cp:lastModifiedBy>Team KARNADHAR</cp:lastModifiedBy>
  <cp:revision>1</cp:revision>
  <dcterms:created xsi:type="dcterms:W3CDTF">2026-07-20T12:13:52Z</dcterms:created>
  <dcterms:modified xsi:type="dcterms:W3CDTF">2026-07-20T12:13:52Z</dcterms:modified>
</cp:coreProperties>
</file>