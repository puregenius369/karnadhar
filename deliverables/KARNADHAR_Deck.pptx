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India runs on imported crude — 88%. Nearly half sails through a strait 3km wide at its narrowest. In June 2025 the world watched Hormuz almost close. KARNADHAR is our answer: an AI that watches the world, models the shock, and reroutes the country’s crude —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88% imported. 46% through one strait — and we didn’t copy that number from a report, our system derives it from official customs records. Reserves: 9.5 days, voluntary. And when Hormuz was threatened last June, Brent jumped 8% in one session. The deep problem is the twin deficit — India cannot pay for expensive crude in dollars for long. That’s the insight an ORF Distinguished Fellow validated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wedge. Everyone modeling this problem treats oil as fungible. It is not. Three properties decide whether a refinery can run a barrel — API gravity, sulphur, and asphaltene content, the SARA insight Prof. Bhui gave us. Jamnagar with Nelson complexity 21 can digest nearly anything; Mumbai at Nelson 7 cannot touch sour crude. Any reroute plan that ignores this is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 agents chained by an orchestrator. The signal layer ingests real GDELT news and real AIS ship positions. The scenario layer is a glass-box economic cascade. The reroute layer is a real linear-programming optimizer over each refinery’s actual diet. And the briefing layer writes the memo — the LLM handles words, never numbers. The whole chain runs in 45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our credibility. These are not estimates — this is what each refinery actually imported last year, from official customs records. Vadinar runs 56% Russian crude and is only 29% Hormuz-exposed. Mumbai is 60% exposed. Our headline 46% national exposure is computed from this data — most teams will quote a number from a report; we derive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crisis through two planners. The naive planner — price-rational, supply-respecting, but grade-blind — produces a plan where 250,000 barrels a day go to refineries that cannot process them. It is infeasible for a grade reason, which is exactly our thesis. KARNADHAR’s linear program produces a fully feasible plan and protects over 3 million dollars a day of product yield — over a billion dollars a year. And the same failure mode reproduces on the real customs-data model — different numbers, same physics,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early-warning agent watches global news coverage of every chokepoint. In the real June 2025 data, coverage exploded to 200 times baseline. Our alert rule — deliberately simple and explainable — fired on June 11th, twelve days before the Brent 8% session. And it cross-confirms with live ship-tracking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demands explicit, testable assumptions — so our cascade is a glass box. Notice the flat segment: a 25% closure is absorbed by the Saudi and UAE bypass pipelines — the model knows that nuance. At full closure: Brent 190, petrol above 125 rupees, and the number that matters most — the current-account deficit exploding past 6% of GDP. India can’t sustain that dollar outflow. That’s why speed of response is a national-security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generalizes — any chokepoint, any supplier sanction, any combination, all on the real customs-data model. Notice two things no dashboard gives you. First, honesty: in the compound shock the naive plan pretends to fill the gap with 546,000 barrels a day of crude the refineries cannot run; we count only usable barrels and state the true shortfall — 2,166. Second, the decision layer: the optimizer prices the reroute in tankers — plus 66 VLCC-equivalents — and its shadow prices name the scarcest barrel. That is what makes it usable for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 and the map does not just show status, it shows the ANSWER. The red routes are the Gulf corridors dying when Hormuz closes. The bright animated flows are the optimizer’s plan itself: every allocation drawn from its source, around the Cape where that is the real voyage, into the exact refinery it feeds, width-weighted by barrels per day. Hover any flow and it tells you: Russia to Jamnagar, 658 thousand barrels a day, LP-assigned. Click a scenario and the whole picture re-solves in tens of milliseconds. Under it all: shadow prices, tanker cost, SPR schedule, executive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trust. A validation suite — 45 falsifiable assertions about the engine’s behaviour, all green, one command, and run automatically in CI on every push to the public repo. Full coverage of the brief’s five evaluation-focus criteria. And two independent domain experts — a Distinguished Fellow at ORF for the economics, and a PDEU petroleum professor for the refining science — reviewed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a business? The market already pays billions for energy intelligence — Kpler, Vortexa, Wood Mackenzie. But they sell monitoring. We sell the decision. Seven buyer segments, starting with refiners and traders. Fifty-plus import-dependent countries share India’s anatomy. And the engine is commodity-agnostic — crude today, LNG and critical minerals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everything you saw runs today — real data, real signals, provable results, expert-reviewed. India’s energy lifeline has no helmsman for the storm. Now it does.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tretch>
            <a:fillRect/>
          </a:stretch>
        </p:blipFill>
        <p:spPr>
          <a:xfrm>
            <a:off x="6309360" y="0"/>
            <a:ext cx="5879592" cy="4654296"/>
          </a:xfrm>
          <a:prstGeom prst="rect">
            <a:avLst/>
          </a:prstGeom>
        </p:spPr>
      </p:pic>
      <p:sp>
        <p:nvSpPr>
          <p:cNvPr id="3" name="Shape 0"/>
          <p:cNvSpPr/>
          <p:nvPr/>
        </p:nvSpPr>
        <p:spPr>
          <a:xfrm>
            <a:off x="6309360" y="0"/>
            <a:ext cx="5879592" cy="4654296"/>
          </a:xfrm>
          <a:prstGeom prst="rect">
            <a:avLst/>
          </a:prstGeom>
          <a:solidFill>
            <a:srgbClr val="0B0F15">
              <a:alpha val="45000"/>
            </a:srgbClr>
          </a:solidFill>
          <a:ln/>
        </p:spPr>
      </p:sp>
      <p:sp>
        <p:nvSpPr>
          <p:cNvPr id="4" name="Text 1"/>
          <p:cNvSpPr/>
          <p:nvPr/>
        </p:nvSpPr>
        <p:spPr>
          <a:xfrm>
            <a:off x="548640" y="640080"/>
            <a:ext cx="7772400" cy="274320"/>
          </a:xfrm>
          <a:prstGeom prst="rect">
            <a:avLst/>
          </a:prstGeom>
          <a:noFill/>
          <a:ln/>
        </p:spPr>
        <p:txBody>
          <a:bodyPr wrap="square" lIns="0" tIns="0" rIns="0" bIns="0" rtlCol="0" anchor="ctr"/>
          <a:lstStyle/>
          <a:p>
            <a:pPr indent="0" marL="0">
              <a:buNone/>
            </a:pPr>
            <a:r>
              <a:rPr lang="en-US" sz="1200" b="1" spc="200" kern="0" dirty="0">
                <a:solidFill>
                  <a:srgbClr val="5DCAA5"/>
                </a:solidFill>
                <a:latin typeface="Arial" pitchFamily="34" charset="0"/>
                <a:ea typeface="Arial" pitchFamily="34" charset="-122"/>
                <a:cs typeface="Arial" pitchFamily="34" charset="-120"/>
              </a:rPr>
              <a:t>ET AI HACKATHON 2026  ·  PHASE 2  ·  PROBLEM #2 — ENERGY SUPPLY-CHAIN RESILIENCE</a:t>
            </a:r>
            <a:endParaRPr lang="en-US" sz="1200" dirty="0"/>
          </a:p>
        </p:txBody>
      </p:sp>
      <p:sp>
        <p:nvSpPr>
          <p:cNvPr id="5" name="Text 2"/>
          <p:cNvSpPr/>
          <p:nvPr/>
        </p:nvSpPr>
        <p:spPr>
          <a:xfrm>
            <a:off x="502920" y="1234440"/>
            <a:ext cx="8686800" cy="1188720"/>
          </a:xfrm>
          <a:prstGeom prst="rect">
            <a:avLst/>
          </a:prstGeom>
          <a:noFill/>
          <a:ln/>
        </p:spPr>
        <p:txBody>
          <a:bodyPr wrap="square" lIns="0" tIns="0" rIns="0" bIns="0" rtlCol="0" anchor="ctr"/>
          <a:lstStyle/>
          <a:p>
            <a:pPr indent="0" marL="0">
              <a:buNone/>
            </a:pPr>
            <a:r>
              <a:rPr lang="en-US" sz="7200" b="1" spc="400" kern="0" dirty="0">
                <a:solidFill>
                  <a:srgbClr val="E8EDF2"/>
                </a:solidFill>
                <a:latin typeface="Arial" pitchFamily="34" charset="0"/>
                <a:ea typeface="Arial" pitchFamily="34" charset="-122"/>
                <a:cs typeface="Arial" pitchFamily="34" charset="-120"/>
              </a:rPr>
              <a:t>KARNADHAR</a:t>
            </a:r>
            <a:endParaRPr lang="en-US" sz="7200" dirty="0"/>
          </a:p>
        </p:txBody>
      </p:sp>
      <p:sp>
        <p:nvSpPr>
          <p:cNvPr id="6" name="Text 3"/>
          <p:cNvSpPr/>
          <p:nvPr/>
        </p:nvSpPr>
        <p:spPr>
          <a:xfrm>
            <a:off x="548640" y="2487168"/>
            <a:ext cx="7863840" cy="365760"/>
          </a:xfrm>
          <a:prstGeom prst="rect">
            <a:avLst/>
          </a:prstGeom>
          <a:noFill/>
          <a:ln/>
        </p:spPr>
        <p:txBody>
          <a:bodyPr wrap="square" lIns="0" tIns="0" rIns="0" bIns="0" rtlCol="0" anchor="ctr"/>
          <a:lstStyle/>
          <a:p>
            <a:pPr indent="0" marL="0">
              <a:buNone/>
            </a:pPr>
            <a:r>
              <a:rPr lang="en-US" sz="1500" i="1" dirty="0">
                <a:solidFill>
                  <a:srgbClr val="93A0B0"/>
                </a:solidFill>
                <a:latin typeface="Arial" pitchFamily="34" charset="0"/>
                <a:ea typeface="Arial" pitchFamily="34" charset="-122"/>
                <a:cs typeface="Arial" pitchFamily="34" charset="-120"/>
              </a:rPr>
              <a:t>कर्णधार — the helmsman who steers the ship through the storm</a:t>
            </a:r>
            <a:endParaRPr lang="en-US" sz="1500" dirty="0"/>
          </a:p>
        </p:txBody>
      </p:sp>
      <p:sp>
        <p:nvSpPr>
          <p:cNvPr id="7" name="Text 4"/>
          <p:cNvSpPr/>
          <p:nvPr/>
        </p:nvSpPr>
        <p:spPr>
          <a:xfrm>
            <a:off x="548640" y="3063240"/>
            <a:ext cx="7589520" cy="1463040"/>
          </a:xfrm>
          <a:prstGeom prst="rect">
            <a:avLst/>
          </a:prstGeom>
          <a:noFill/>
          <a:ln/>
        </p:spPr>
        <p:txBody>
          <a:bodyPr wrap="square" lIns="0" tIns="0" rIns="0" bIns="0" rtlCol="0" anchor="ctr"/>
          <a:lstStyle/>
          <a:p>
            <a:pPr indent="0" marL="0">
              <a:lnSpc>
                <a:spcPts val="2400"/>
              </a:lnSpc>
              <a:buNone/>
            </a:pPr>
            <a:r>
              <a:rPr lang="en-US" sz="2000" b="1" dirty="0">
                <a:solidFill>
                  <a:srgbClr val="E8EDF2"/>
                </a:solidFill>
                <a:latin typeface="Arial" pitchFamily="34" charset="0"/>
                <a:ea typeface="Arial" pitchFamily="34" charset="-122"/>
                <a:cs typeface="Arial" pitchFamily="34" charset="-120"/>
              </a:rPr>
              <a:t>India imports 88% of its crude. Nearly half transits one strait.
</a:t>
            </a:r>
            <a:pPr indent="0" marL="0">
              <a:lnSpc>
                <a:spcPts val="2400"/>
              </a:lnSpc>
              <a:buNone/>
            </a:pPr>
            <a:r>
              <a:rPr lang="en-US" sz="1500" dirty="0">
                <a:solidFill>
                  <a:srgbClr val="93A0B0"/>
                </a:solidFill>
                <a:latin typeface="Arial" pitchFamily="34" charset="0"/>
                <a:ea typeface="Arial" pitchFamily="34" charset="-122"/>
                <a:cs typeface="Arial" pitchFamily="34" charset="-120"/>
              </a:rPr>
              <a:t>KARNADHAR is the AI command center that turns a 47-day supply crisis</a:t>
            </a:r>
            <a:endParaRPr lang="en-US" sz="2000" dirty="0"/>
          </a:p>
          <a:p>
            <a:pPr indent="0" marL="0">
              <a:lnSpc>
                <a:spcPts val="2400"/>
              </a:lnSpc>
              <a:buNone/>
            </a:pPr>
            <a:r>
              <a:rPr lang="en-US" sz="1500" dirty="0">
                <a:solidFill>
                  <a:srgbClr val="93A0B0"/>
                </a:solidFill>
                <a:latin typeface="Arial" pitchFamily="34" charset="0"/>
                <a:ea typeface="Arial" pitchFamily="34" charset="-122"/>
                <a:cs typeface="Arial" pitchFamily="34" charset="-120"/>
              </a:rPr>
              <a:t>into a decision made in 45 milliseconds — grade-by-grade, refinery-by-refinery.</a:t>
            </a:r>
            <a:endParaRPr lang="en-US" sz="2000" dirty="0"/>
          </a:p>
        </p:txBody>
      </p:sp>
      <p:sp>
        <p:nvSpPr>
          <p:cNvPr id="8" name="Shape 5"/>
          <p:cNvSpPr/>
          <p:nvPr/>
        </p:nvSpPr>
        <p:spPr>
          <a:xfrm>
            <a:off x="548640" y="5074920"/>
            <a:ext cx="11091672" cy="1051560"/>
          </a:xfrm>
          <a:prstGeom prst="roundRect">
            <a:avLst>
              <a:gd name="adj" fmla="val 6087"/>
            </a:avLst>
          </a:prstGeom>
          <a:solidFill>
            <a:srgbClr val="121926"/>
          </a:solidFill>
          <a:ln w="9525">
            <a:solidFill>
              <a:srgbClr val="243040"/>
            </a:solidFill>
            <a:prstDash val="solid"/>
          </a:ln>
        </p:spPr>
      </p:sp>
      <p:sp>
        <p:nvSpPr>
          <p:cNvPr id="9" name="Text 6"/>
          <p:cNvSpPr/>
          <p:nvPr/>
        </p:nvSpPr>
        <p:spPr>
          <a:xfrm>
            <a:off x="822960" y="5230368"/>
            <a:ext cx="7315200" cy="36576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Mann Sutariya</a:t>
            </a:r>
            <a:pPr indent="0" marL="0">
              <a:buNone/>
            </a:pPr>
            <a:r>
              <a:rPr lang="en-US" sz="1300" dirty="0">
                <a:solidFill>
                  <a:srgbClr val="93A0B0"/>
                </a:solidFill>
                <a:latin typeface="Arial" pitchFamily="34" charset="0"/>
                <a:ea typeface="Arial" pitchFamily="34" charset="-122"/>
                <a:cs typeface="Arial" pitchFamily="34" charset="-120"/>
              </a:rPr>
              <a:t>   ·   Pandit Deendayal Energy University, Gandhinagar</a:t>
            </a:r>
            <a:endParaRPr lang="en-US" sz="1500" dirty="0"/>
          </a:p>
        </p:txBody>
      </p:sp>
      <p:sp>
        <p:nvSpPr>
          <p:cNvPr id="10" name="Text 7"/>
          <p:cNvSpPr/>
          <p:nvPr/>
        </p:nvSpPr>
        <p:spPr>
          <a:xfrm>
            <a:off x="822960" y="5614416"/>
            <a:ext cx="9601200" cy="320040"/>
          </a:xfrm>
          <a:prstGeom prst="rect">
            <a:avLst/>
          </a:prstGeom>
          <a:noFill/>
          <a:ln/>
        </p:spPr>
        <p:txBody>
          <a:bodyPr wrap="square" lIns="0" tIns="0" rIns="0" bIns="0" rtlCol="0" anchor="ctr"/>
          <a:lstStyle/>
          <a:p>
            <a:pPr indent="0" marL="0">
              <a:buNone/>
            </a:pPr>
            <a:r>
              <a:rPr lang="en-US" sz="1200" dirty="0">
                <a:solidFill>
                  <a:srgbClr val="5DCAA5"/>
                </a:solidFill>
                <a:latin typeface="Arial" pitchFamily="34" charset="0"/>
                <a:ea typeface="Arial" pitchFamily="34" charset="-122"/>
                <a:cs typeface="Arial" pitchFamily="34" charset="-120"/>
              </a:rPr>
              <a:t>Assumptions reviewed with: Lydia Powell (ORF)  ·  Prof. U. K. Bhui (PDEU)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One strait can strangle the world’s 3rd-largest oil importer</a:t>
            </a:r>
            <a:endParaRPr lang="en-US" sz="3100" dirty="0"/>
          </a:p>
        </p:txBody>
      </p:sp>
      <p:sp>
        <p:nvSpPr>
          <p:cNvPr id="4" name="Shape 2"/>
          <p:cNvSpPr/>
          <p:nvPr/>
        </p:nvSpPr>
        <p:spPr>
          <a:xfrm>
            <a:off x="548640" y="1783080"/>
            <a:ext cx="2587752" cy="1600200"/>
          </a:xfrm>
          <a:prstGeom prst="roundRect">
            <a:avLst>
              <a:gd name="adj" fmla="val 4000"/>
            </a:avLst>
          </a:prstGeom>
          <a:solidFill>
            <a:srgbClr val="121926"/>
          </a:solidFill>
          <a:ln w="9525">
            <a:solidFill>
              <a:srgbClr val="243040"/>
            </a:solidFill>
            <a:prstDash val="solid"/>
          </a:ln>
        </p:spPr>
      </p:sp>
      <p:sp>
        <p:nvSpPr>
          <p:cNvPr id="5" name="Text 3"/>
          <p:cNvSpPr/>
          <p:nvPr/>
        </p:nvSpPr>
        <p:spPr>
          <a:xfrm>
            <a:off x="640080" y="1984248"/>
            <a:ext cx="2404872" cy="685800"/>
          </a:xfrm>
          <a:prstGeom prst="rect">
            <a:avLst/>
          </a:prstGeom>
          <a:noFill/>
          <a:ln/>
        </p:spPr>
        <p:txBody>
          <a:bodyPr wrap="square" lIns="0" tIns="0" rIns="0" bIns="0" rtlCol="0" anchor="ctr"/>
          <a:lstStyle/>
          <a:p>
            <a:pPr algn="ctr" indent="0" marL="0">
              <a:buNone/>
            </a:pPr>
            <a:r>
              <a:rPr lang="en-US" sz="3400" b="1" dirty="0">
                <a:solidFill>
                  <a:srgbClr val="F2A623"/>
                </a:solidFill>
                <a:latin typeface="Arial" pitchFamily="34" charset="0"/>
                <a:ea typeface="Arial" pitchFamily="34" charset="-122"/>
                <a:cs typeface="Arial" pitchFamily="34" charset="-120"/>
              </a:rPr>
              <a:t>88%</a:t>
            </a:r>
            <a:endParaRPr lang="en-US" sz="3400" dirty="0"/>
          </a:p>
        </p:txBody>
      </p:sp>
      <p:sp>
        <p:nvSpPr>
          <p:cNvPr id="6" name="Text 4"/>
          <p:cNvSpPr/>
          <p:nvPr/>
        </p:nvSpPr>
        <p:spPr>
          <a:xfrm>
            <a:off x="64008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India’s crude is imported</a:t>
            </a:r>
            <a:endParaRPr lang="en-US" sz="1150" dirty="0"/>
          </a:p>
        </p:txBody>
      </p:sp>
      <p:sp>
        <p:nvSpPr>
          <p:cNvPr id="7" name="Shape 5"/>
          <p:cNvSpPr/>
          <p:nvPr/>
        </p:nvSpPr>
        <p:spPr>
          <a:xfrm>
            <a:off x="3383280" y="1783080"/>
            <a:ext cx="2587752" cy="1600200"/>
          </a:xfrm>
          <a:prstGeom prst="roundRect">
            <a:avLst>
              <a:gd name="adj" fmla="val 4000"/>
            </a:avLst>
          </a:prstGeom>
          <a:solidFill>
            <a:srgbClr val="121926"/>
          </a:solidFill>
          <a:ln w="9525">
            <a:solidFill>
              <a:srgbClr val="243040"/>
            </a:solidFill>
            <a:prstDash val="solid"/>
          </a:ln>
        </p:spPr>
      </p:sp>
      <p:sp>
        <p:nvSpPr>
          <p:cNvPr id="8" name="Text 6"/>
          <p:cNvSpPr/>
          <p:nvPr/>
        </p:nvSpPr>
        <p:spPr>
          <a:xfrm>
            <a:off x="3474720" y="1984248"/>
            <a:ext cx="2404872" cy="685800"/>
          </a:xfrm>
          <a:prstGeom prst="rect">
            <a:avLst/>
          </a:prstGeom>
          <a:noFill/>
          <a:ln/>
        </p:spPr>
        <p:txBody>
          <a:bodyPr wrap="square" lIns="0" tIns="0" rIns="0" bIns="0" rtlCol="0" anchor="ctr"/>
          <a:lstStyle/>
          <a:p>
            <a:pPr algn="ctr" indent="0" marL="0">
              <a:buNone/>
            </a:pPr>
            <a:r>
              <a:rPr lang="en-US" sz="3400" b="1" dirty="0">
                <a:solidFill>
                  <a:srgbClr val="E85A58"/>
                </a:solidFill>
                <a:latin typeface="Arial" pitchFamily="34" charset="0"/>
                <a:ea typeface="Arial" pitchFamily="34" charset="-122"/>
                <a:cs typeface="Arial" pitchFamily="34" charset="-120"/>
              </a:rPr>
              <a:t>46%</a:t>
            </a:r>
            <a:endParaRPr lang="en-US" sz="3400" dirty="0"/>
          </a:p>
        </p:txBody>
      </p:sp>
      <p:sp>
        <p:nvSpPr>
          <p:cNvPr id="9" name="Text 7"/>
          <p:cNvSpPr/>
          <p:nvPr/>
        </p:nvSpPr>
        <p:spPr>
          <a:xfrm>
            <a:off x="347472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transits the Strait of Hormuz — derived from official trade records, not assumed</a:t>
            </a:r>
            <a:endParaRPr lang="en-US" sz="1150" dirty="0"/>
          </a:p>
        </p:txBody>
      </p:sp>
      <p:sp>
        <p:nvSpPr>
          <p:cNvPr id="10" name="Shape 8"/>
          <p:cNvSpPr/>
          <p:nvPr/>
        </p:nvSpPr>
        <p:spPr>
          <a:xfrm>
            <a:off x="6217920" y="1783080"/>
            <a:ext cx="2587752" cy="1600200"/>
          </a:xfrm>
          <a:prstGeom prst="roundRect">
            <a:avLst>
              <a:gd name="adj" fmla="val 4000"/>
            </a:avLst>
          </a:prstGeom>
          <a:solidFill>
            <a:srgbClr val="121926"/>
          </a:solidFill>
          <a:ln w="9525">
            <a:solidFill>
              <a:srgbClr val="243040"/>
            </a:solidFill>
            <a:prstDash val="solid"/>
          </a:ln>
        </p:spPr>
      </p:sp>
      <p:sp>
        <p:nvSpPr>
          <p:cNvPr id="11" name="Text 9"/>
          <p:cNvSpPr/>
          <p:nvPr/>
        </p:nvSpPr>
        <p:spPr>
          <a:xfrm>
            <a:off x="6309360" y="1984248"/>
            <a:ext cx="2404872" cy="685800"/>
          </a:xfrm>
          <a:prstGeom prst="rect">
            <a:avLst/>
          </a:prstGeom>
          <a:noFill/>
          <a:ln/>
        </p:spPr>
        <p:txBody>
          <a:bodyPr wrap="square" lIns="0" tIns="0" rIns="0" bIns="0" rtlCol="0" anchor="ctr"/>
          <a:lstStyle/>
          <a:p>
            <a:pPr algn="ctr" indent="0" marL="0">
              <a:buNone/>
            </a:pPr>
            <a:r>
              <a:rPr lang="en-US" sz="3400" b="1" dirty="0">
                <a:solidFill>
                  <a:srgbClr val="4B96DC"/>
                </a:solidFill>
                <a:latin typeface="Arial" pitchFamily="34" charset="0"/>
                <a:ea typeface="Arial" pitchFamily="34" charset="-122"/>
                <a:cs typeface="Arial" pitchFamily="34" charset="-120"/>
              </a:rPr>
              <a:t>9.5 days</a:t>
            </a:r>
            <a:endParaRPr lang="en-US" sz="3400" dirty="0"/>
          </a:p>
        </p:txBody>
      </p:sp>
      <p:sp>
        <p:nvSpPr>
          <p:cNvPr id="12" name="Text 10"/>
          <p:cNvSpPr/>
          <p:nvPr/>
        </p:nvSpPr>
        <p:spPr>
          <a:xfrm>
            <a:off x="630936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strategic reserve cover — voluntary, vs the IEA’s 90-day norm</a:t>
            </a:r>
            <a:endParaRPr lang="en-US" sz="1150" dirty="0"/>
          </a:p>
        </p:txBody>
      </p:sp>
      <p:sp>
        <p:nvSpPr>
          <p:cNvPr id="13" name="Shape 11"/>
          <p:cNvSpPr/>
          <p:nvPr/>
        </p:nvSpPr>
        <p:spPr>
          <a:xfrm>
            <a:off x="9052560" y="1783080"/>
            <a:ext cx="2587752" cy="1600200"/>
          </a:xfrm>
          <a:prstGeom prst="roundRect">
            <a:avLst>
              <a:gd name="adj" fmla="val 4000"/>
            </a:avLst>
          </a:prstGeom>
          <a:solidFill>
            <a:srgbClr val="121926"/>
          </a:solidFill>
          <a:ln w="9525">
            <a:solidFill>
              <a:srgbClr val="243040"/>
            </a:solidFill>
            <a:prstDash val="solid"/>
          </a:ln>
        </p:spPr>
      </p:sp>
      <p:sp>
        <p:nvSpPr>
          <p:cNvPr id="14" name="Text 12"/>
          <p:cNvSpPr/>
          <p:nvPr/>
        </p:nvSpPr>
        <p:spPr>
          <a:xfrm>
            <a:off x="9144000" y="1984248"/>
            <a:ext cx="2404872" cy="685800"/>
          </a:xfrm>
          <a:prstGeom prst="rect">
            <a:avLst/>
          </a:prstGeom>
          <a:noFill/>
          <a:ln/>
        </p:spPr>
        <p:txBody>
          <a:bodyPr wrap="square" lIns="0" tIns="0" rIns="0" bIns="0" rtlCol="0" anchor="ctr"/>
          <a:lstStyle/>
          <a:p>
            <a:pPr algn="ctr" indent="0" marL="0">
              <a:buNone/>
            </a:pPr>
            <a:r>
              <a:rPr lang="en-US" sz="3400" b="1" dirty="0">
                <a:solidFill>
                  <a:srgbClr val="5DCAA5"/>
                </a:solidFill>
                <a:latin typeface="Arial" pitchFamily="34" charset="0"/>
                <a:ea typeface="Arial" pitchFamily="34" charset="-122"/>
                <a:cs typeface="Arial" pitchFamily="34" charset="-120"/>
              </a:rPr>
              <a:t>+8%</a:t>
            </a:r>
            <a:endParaRPr lang="en-US" sz="3400" dirty="0"/>
          </a:p>
        </p:txBody>
      </p:sp>
      <p:sp>
        <p:nvSpPr>
          <p:cNvPr id="15" name="Text 13"/>
          <p:cNvSpPr/>
          <p:nvPr/>
        </p:nvSpPr>
        <p:spPr>
          <a:xfrm>
            <a:off x="914400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Brent in a single session when Hormuz was threatened (June 2025)</a:t>
            </a:r>
            <a:endParaRPr lang="en-US" sz="1150" dirty="0"/>
          </a:p>
        </p:txBody>
      </p:sp>
      <p:sp>
        <p:nvSpPr>
          <p:cNvPr id="16" name="Shape 14"/>
          <p:cNvSpPr/>
          <p:nvPr/>
        </p:nvSpPr>
        <p:spPr>
          <a:xfrm>
            <a:off x="548640" y="3840480"/>
            <a:ext cx="11091672" cy="2103120"/>
          </a:xfrm>
          <a:prstGeom prst="roundRect">
            <a:avLst>
              <a:gd name="adj" fmla="val 3043"/>
            </a:avLst>
          </a:prstGeom>
          <a:solidFill>
            <a:srgbClr val="121926"/>
          </a:solidFill>
          <a:ln w="9525">
            <a:solidFill>
              <a:srgbClr val="243040"/>
            </a:solidFill>
            <a:prstDash val="solid"/>
          </a:ln>
        </p:spPr>
      </p:sp>
      <p:sp>
        <p:nvSpPr>
          <p:cNvPr id="17" name="Text 15"/>
          <p:cNvSpPr/>
          <p:nvPr/>
        </p:nvSpPr>
        <p:spPr>
          <a:xfrm>
            <a:off x="868680" y="4114800"/>
            <a:ext cx="10424160" cy="1600200"/>
          </a:xfrm>
          <a:prstGeom prst="rect">
            <a:avLst/>
          </a:prstGeom>
          <a:noFill/>
          <a:ln/>
        </p:spPr>
        <p:txBody>
          <a:bodyPr wrap="square" lIns="0" tIns="0" rIns="0" bIns="0" rtlCol="0" anchor="ctr"/>
          <a:lstStyle/>
          <a:p>
            <a:pPr indent="0" marL="0">
              <a:lnSpc>
                <a:spcPts val="2200"/>
              </a:lnSpc>
              <a:buNone/>
            </a:pPr>
            <a:r>
              <a:rPr lang="en-US" sz="1800" b="1" dirty="0">
                <a:solidFill>
                  <a:srgbClr val="E8EDF2"/>
                </a:solidFill>
                <a:latin typeface="Arial" pitchFamily="34" charset="0"/>
                <a:ea typeface="Arial" pitchFamily="34" charset="-122"/>
                <a:cs typeface="Arial" pitchFamily="34" charset="-120"/>
              </a:rPr>
              <a:t>And the real constraint isn’t barrels — it’s dollars.
</a:t>
            </a:r>
            <a:pPr indent="0" marL="0">
              <a:lnSpc>
                <a:spcPts val="2200"/>
              </a:lnSpc>
              <a:buNone/>
            </a:pPr>
            <a:r>
              <a:rPr lang="en-US" sz="1450" dirty="0">
                <a:solidFill>
                  <a:srgbClr val="93A0B0"/>
                </a:solidFill>
                <a:latin typeface="Arial" pitchFamily="34" charset="0"/>
                <a:ea typeface="Arial" pitchFamily="34" charset="-122"/>
                <a:cs typeface="Arial" pitchFamily="34" charset="-120"/>
              </a:rPr>
              <a:t>India is a twin-deficit economy. A sustained price shock adds ~$190 bn/yr to the import bill, blowing the current-account deficit from 1.2% to over 6% of GDP. Unlike trade-surplus Japan or Korea, India cannot sustain that dollar outflow — which is why unprepared economies take </a:t>
            </a:r>
            <a:pPr indent="0" marL="0">
              <a:lnSpc>
                <a:spcPts val="2200"/>
              </a:lnSpc>
              <a:buNone/>
            </a:pPr>
            <a:r>
              <a:rPr lang="en-US" sz="1450" b="1" dirty="0">
                <a:solidFill>
                  <a:srgbClr val="E85A58"/>
                </a:solidFill>
                <a:latin typeface="Arial" pitchFamily="34" charset="0"/>
                <a:ea typeface="Arial" pitchFamily="34" charset="-122"/>
                <a:cs typeface="Arial" pitchFamily="34" charset="-120"/>
              </a:rPr>
              <a:t>47 days longer</a:t>
            </a:r>
            <a:pPr indent="0" marL="0">
              <a:lnSpc>
                <a:spcPts val="2200"/>
              </a:lnSpc>
              <a:buNone/>
            </a:pPr>
            <a:r>
              <a:rPr lang="en-US" sz="1450" dirty="0">
                <a:solidFill>
                  <a:srgbClr val="93A0B0"/>
                </a:solidFill>
                <a:latin typeface="Arial" pitchFamily="34" charset="0"/>
                <a:ea typeface="Arial" pitchFamily="34" charset="-122"/>
                <a:cs typeface="Arial" pitchFamily="34" charset="-120"/>
              </a:rPr>
              <a:t> to stabilise supply (McKinsey). The data to act exists. The intelligence layer to act on it does not.</a:t>
            </a:r>
            <a:endParaRPr lang="en-US" sz="1800" dirty="0"/>
          </a:p>
        </p:txBody>
      </p:sp>
      <p:sp>
        <p:nvSpPr>
          <p:cNvPr id="18" name="Text 16"/>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Sources: DGCIS trade records (May 2025–Apr 2026) · PPAC · ISPRL · EIA · twin-deficit framing reviewed with Lydia Powell, Distinguished Fellow, ORF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INSIGHT EVERYONE MISSES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Crude oil is not fungible</a:t>
            </a:r>
            <a:endParaRPr lang="en-US" sz="3100" dirty="0"/>
          </a:p>
        </p:txBody>
      </p:sp>
      <p:sp>
        <p:nvSpPr>
          <p:cNvPr id="4" name="Text 2"/>
          <p:cNvSpPr/>
          <p:nvPr/>
        </p:nvSpPr>
        <p:spPr>
          <a:xfrm>
            <a:off x="548640" y="1645920"/>
            <a:ext cx="5852160" cy="2743200"/>
          </a:xfrm>
          <a:prstGeom prst="rect">
            <a:avLst/>
          </a:prstGeom>
          <a:noFill/>
          <a:ln/>
        </p:spPr>
        <p:txBody>
          <a:bodyPr wrap="square" lIns="0" tIns="0" rIns="0" bIns="0" rtlCol="0" anchor="ctr"/>
          <a:lstStyle/>
          <a:p>
            <a:pPr indent="0" marL="0">
              <a:lnSpc>
                <a:spcPts val="2200"/>
              </a:lnSpc>
              <a:buNone/>
            </a:pPr>
            <a:r>
              <a:rPr lang="en-US" sz="1500" dirty="0">
                <a:solidFill>
                  <a:srgbClr val="93A0B0"/>
                </a:solidFill>
                <a:latin typeface="Arial" pitchFamily="34" charset="0"/>
                <a:ea typeface="Arial" pitchFamily="34" charset="-122"/>
                <a:cs typeface="Arial" pitchFamily="34" charset="-120"/>
              </a:rPr>
              <a:t>Every other “resilience dashboard” treats oil as one number: barrels.
</a:t>
            </a:r>
            <a:pPr indent="0" marL="0">
              <a:lnSpc>
                <a:spcPts val="2200"/>
              </a:lnSpc>
              <a:buNone/>
            </a:pPr>
            <a:r>
              <a:rPr lang="en-US" sz="1600" b="1" dirty="0">
                <a:solidFill>
                  <a:srgbClr val="E8EDF2"/>
                </a:solidFill>
                <a:latin typeface="Arial" pitchFamily="34" charset="0"/>
                <a:ea typeface="Arial" pitchFamily="34" charset="-122"/>
                <a:cs typeface="Arial" pitchFamily="34" charset="-120"/>
              </a:rPr>
              <a:t>Reality: a refinery is an engine tuned to a fuel. </a:t>
            </a:r>
            <a:pPr indent="0" marL="0">
              <a:lnSpc>
                <a:spcPts val="2200"/>
              </a:lnSpc>
              <a:buNone/>
            </a:pPr>
            <a:r>
              <a:rPr lang="en-US" sz="1500" dirty="0">
                <a:solidFill>
                  <a:srgbClr val="93A0B0"/>
                </a:solidFill>
                <a:latin typeface="Arial" pitchFamily="34" charset="0"/>
                <a:ea typeface="Arial" pitchFamily="34" charset="-122"/>
                <a:cs typeface="Arial" pitchFamily="34" charset="-120"/>
              </a:rPr>
              <a:t>A deep-conversion coking refinery built for heavy, sour, asphaltene-rich crude physically cannot run ultra-light condensate — and a simple refinery cannot digest sour crude. When Hormuz closes, the question is not “where do we buy oil?” It is “which exact grade can each of our refineries actually run — and who has it?”</a:t>
            </a:r>
            <a:endParaRPr lang="en-US" sz="1500" dirty="0"/>
          </a:p>
        </p:txBody>
      </p:sp>
      <p:sp>
        <p:nvSpPr>
          <p:cNvPr id="5" name="Shape 3"/>
          <p:cNvSpPr/>
          <p:nvPr/>
        </p:nvSpPr>
        <p:spPr>
          <a:xfrm>
            <a:off x="548640" y="4572000"/>
            <a:ext cx="5852160" cy="1554480"/>
          </a:xfrm>
          <a:prstGeom prst="roundRect">
            <a:avLst>
              <a:gd name="adj" fmla="val 4118"/>
            </a:avLst>
          </a:prstGeom>
          <a:solidFill>
            <a:srgbClr val="10151E"/>
          </a:solidFill>
          <a:ln w="9525">
            <a:solidFill>
              <a:srgbClr val="243040"/>
            </a:solidFill>
            <a:prstDash val="solid"/>
          </a:ln>
        </p:spPr>
      </p:sp>
      <p:sp>
        <p:nvSpPr>
          <p:cNvPr id="6" name="Text 4"/>
          <p:cNvSpPr/>
          <p:nvPr/>
        </p:nvSpPr>
        <p:spPr>
          <a:xfrm>
            <a:off x="822960" y="4754880"/>
            <a:ext cx="5394960" cy="1280160"/>
          </a:xfrm>
          <a:prstGeom prst="rect">
            <a:avLst/>
          </a:prstGeom>
          <a:noFill/>
          <a:ln/>
        </p:spPr>
        <p:txBody>
          <a:bodyPr wrap="square" lIns="0" tIns="0" rIns="0" bIns="0" rtlCol="0" anchor="ctr"/>
          <a:lstStyle/>
          <a:p>
            <a:pPr indent="0" marL="0">
              <a:lnSpc>
                <a:spcPts val="1700"/>
              </a:lnSpc>
              <a:buNone/>
            </a:pPr>
            <a:r>
              <a:rPr lang="en-US" sz="1600" b="1" i="1" dirty="0">
                <a:solidFill>
                  <a:srgbClr val="5DCAA5"/>
                </a:solidFill>
                <a:latin typeface="Arial" pitchFamily="34" charset="0"/>
                <a:ea typeface="Arial" pitchFamily="34" charset="-122"/>
                <a:cs typeface="Arial" pitchFamily="34" charset="-120"/>
              </a:rPr>
              <a:t>“That is — you are perfectly right.”
</a:t>
            </a:r>
            <a:pPr indent="0" marL="0">
              <a:lnSpc>
                <a:spcPts val="1700"/>
              </a:lnSpc>
              <a:buNone/>
            </a:pPr>
            <a:r>
              <a:rPr lang="en-US" sz="1200" dirty="0">
                <a:solidFill>
                  <a:srgbClr val="93A0B0"/>
                </a:solidFill>
                <a:latin typeface="Arial" pitchFamily="34" charset="0"/>
                <a:ea typeface="Arial" pitchFamily="34" charset="-122"/>
                <a:cs typeface="Arial" pitchFamily="34" charset="-120"/>
              </a:rPr>
              <a:t>Prof. U. K. Bhui, Petroleum Engineering, PDEU — on our refinery-constrained sourcing thesis. His guidance added the SARA dimension (asphaltenes) to our crude model.</a:t>
            </a:r>
            <a:endParaRPr lang="en-US" sz="1600" dirty="0"/>
          </a:p>
        </p:txBody>
      </p:sp>
      <p:sp>
        <p:nvSpPr>
          <p:cNvPr id="7" name="Shape 5"/>
          <p:cNvSpPr/>
          <p:nvPr/>
        </p:nvSpPr>
        <p:spPr>
          <a:xfrm>
            <a:off x="6766560" y="1645920"/>
            <a:ext cx="4873752" cy="2103120"/>
          </a:xfrm>
          <a:prstGeom prst="roundRect">
            <a:avLst>
              <a:gd name="adj" fmla="val 3043"/>
            </a:avLst>
          </a:prstGeom>
          <a:solidFill>
            <a:srgbClr val="121926"/>
          </a:solidFill>
          <a:ln w="9525">
            <a:solidFill>
              <a:srgbClr val="243040"/>
            </a:solidFill>
            <a:prstDash val="solid"/>
          </a:ln>
        </p:spPr>
      </p:sp>
      <p:sp>
        <p:nvSpPr>
          <p:cNvPr id="8" name="Text 6"/>
          <p:cNvSpPr/>
          <p:nvPr/>
        </p:nvSpPr>
        <p:spPr>
          <a:xfrm>
            <a:off x="7040880" y="182880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WHAT DECIDES IF A BARREL IS RUNNABLE</a:t>
            </a:r>
            <a:endParaRPr lang="en-US" sz="1100" dirty="0"/>
          </a:p>
        </p:txBody>
      </p:sp>
      <p:sp>
        <p:nvSpPr>
          <p:cNvPr id="9" name="Shape 7"/>
          <p:cNvSpPr/>
          <p:nvPr/>
        </p:nvSpPr>
        <p:spPr>
          <a:xfrm>
            <a:off x="7086600" y="2258568"/>
            <a:ext cx="201168" cy="201168"/>
          </a:xfrm>
          <a:prstGeom prst="ellipse">
            <a:avLst/>
          </a:prstGeom>
          <a:solidFill>
            <a:srgbClr val="F2A623"/>
          </a:solidFill>
          <a:ln/>
        </p:spPr>
      </p:sp>
      <p:sp>
        <p:nvSpPr>
          <p:cNvPr id="10" name="Text 8"/>
          <p:cNvSpPr/>
          <p:nvPr/>
        </p:nvSpPr>
        <p:spPr>
          <a:xfrm>
            <a:off x="7424928" y="2212848"/>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API gravity  </a:t>
            </a:r>
            <a:pPr indent="0" marL="0">
              <a:buNone/>
            </a:pPr>
            <a:r>
              <a:rPr lang="en-US" sz="1250" dirty="0">
                <a:solidFill>
                  <a:srgbClr val="93A0B0"/>
                </a:solidFill>
                <a:latin typeface="Arial" pitchFamily="34" charset="0"/>
                <a:ea typeface="Arial" pitchFamily="34" charset="-122"/>
                <a:cs typeface="Arial" pitchFamily="34" charset="-120"/>
              </a:rPr>
              <a:t>— light vs heavy</a:t>
            </a:r>
            <a:endParaRPr lang="en-US" sz="1400" dirty="0"/>
          </a:p>
        </p:txBody>
      </p:sp>
      <p:sp>
        <p:nvSpPr>
          <p:cNvPr id="11" name="Shape 9"/>
          <p:cNvSpPr/>
          <p:nvPr/>
        </p:nvSpPr>
        <p:spPr>
          <a:xfrm>
            <a:off x="7086600" y="2734056"/>
            <a:ext cx="201168" cy="201168"/>
          </a:xfrm>
          <a:prstGeom prst="ellipse">
            <a:avLst/>
          </a:prstGeom>
          <a:solidFill>
            <a:srgbClr val="E85A58"/>
          </a:solidFill>
          <a:ln/>
        </p:spPr>
      </p:sp>
      <p:sp>
        <p:nvSpPr>
          <p:cNvPr id="12" name="Text 10"/>
          <p:cNvSpPr/>
          <p:nvPr/>
        </p:nvSpPr>
        <p:spPr>
          <a:xfrm>
            <a:off x="7424928" y="2688336"/>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Sulphur  </a:t>
            </a:r>
            <a:pPr indent="0" marL="0">
              <a:buNone/>
            </a:pPr>
            <a:r>
              <a:rPr lang="en-US" sz="1250" dirty="0">
                <a:solidFill>
                  <a:srgbClr val="93A0B0"/>
                </a:solidFill>
                <a:latin typeface="Arial" pitchFamily="34" charset="0"/>
                <a:ea typeface="Arial" pitchFamily="34" charset="-122"/>
                <a:cs typeface="Arial" pitchFamily="34" charset="-120"/>
              </a:rPr>
              <a:t>— sweet vs sour</a:t>
            </a:r>
            <a:endParaRPr lang="en-US" sz="1400" dirty="0"/>
          </a:p>
        </p:txBody>
      </p:sp>
      <p:sp>
        <p:nvSpPr>
          <p:cNvPr id="13" name="Shape 11"/>
          <p:cNvSpPr/>
          <p:nvPr/>
        </p:nvSpPr>
        <p:spPr>
          <a:xfrm>
            <a:off x="7086600" y="3209544"/>
            <a:ext cx="201168" cy="201168"/>
          </a:xfrm>
          <a:prstGeom prst="ellipse">
            <a:avLst/>
          </a:prstGeom>
          <a:solidFill>
            <a:srgbClr val="5DCAA5"/>
          </a:solidFill>
          <a:ln/>
        </p:spPr>
      </p:sp>
      <p:sp>
        <p:nvSpPr>
          <p:cNvPr id="14" name="Text 12"/>
          <p:cNvSpPr/>
          <p:nvPr/>
        </p:nvSpPr>
        <p:spPr>
          <a:xfrm>
            <a:off x="7424928" y="3163824"/>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Asphaltene (SARA)  </a:t>
            </a:r>
            <a:pPr indent="0" marL="0">
              <a:buNone/>
            </a:pPr>
            <a:r>
              <a:rPr lang="en-US" sz="1250" dirty="0">
                <a:solidFill>
                  <a:srgbClr val="93A0B0"/>
                </a:solidFill>
                <a:latin typeface="Arial" pitchFamily="34" charset="0"/>
                <a:ea typeface="Arial" pitchFamily="34" charset="-122"/>
                <a:cs typeface="Arial" pitchFamily="34" charset="-120"/>
              </a:rPr>
              <a:t>— coke precursor</a:t>
            </a:r>
            <a:endParaRPr lang="en-US" sz="1400" dirty="0"/>
          </a:p>
        </p:txBody>
      </p:sp>
      <p:sp>
        <p:nvSpPr>
          <p:cNvPr id="15" name="Shape 13"/>
          <p:cNvSpPr/>
          <p:nvPr/>
        </p:nvSpPr>
        <p:spPr>
          <a:xfrm>
            <a:off x="6766560" y="3977640"/>
            <a:ext cx="4873752" cy="2148840"/>
          </a:xfrm>
          <a:prstGeom prst="roundRect">
            <a:avLst>
              <a:gd name="adj" fmla="val 2979"/>
            </a:avLst>
          </a:prstGeom>
          <a:solidFill>
            <a:srgbClr val="121926"/>
          </a:solidFill>
          <a:ln w="9525">
            <a:solidFill>
              <a:srgbClr val="243040"/>
            </a:solidFill>
            <a:prstDash val="solid"/>
          </a:ln>
        </p:spPr>
      </p:sp>
      <p:sp>
        <p:nvSpPr>
          <p:cNvPr id="16" name="Text 14"/>
          <p:cNvSpPr/>
          <p:nvPr/>
        </p:nvSpPr>
        <p:spPr>
          <a:xfrm>
            <a:off x="7040880" y="416052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SAME COUNTRY, DIFFERENT MACHINES</a:t>
            </a:r>
            <a:endParaRPr lang="en-US" sz="1100" dirty="0"/>
          </a:p>
        </p:txBody>
      </p:sp>
      <p:sp>
        <p:nvSpPr>
          <p:cNvPr id="17" name="Text 15"/>
          <p:cNvSpPr/>
          <p:nvPr/>
        </p:nvSpPr>
        <p:spPr>
          <a:xfrm>
            <a:off x="7086600" y="452628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RIL Jamnagar   </a:t>
            </a:r>
            <a:pPr indent="0" marL="0">
              <a:lnSpc>
                <a:spcPts val="1600"/>
              </a:lnSpc>
              <a:buNone/>
            </a:pPr>
            <a:r>
              <a:rPr lang="en-US" sz="1300" b="1" dirty="0">
                <a:solidFill>
                  <a:srgbClr val="5DCAA5"/>
                </a:solidFill>
                <a:latin typeface="Arial" pitchFamily="34" charset="0"/>
                <a:ea typeface="Arial" pitchFamily="34" charset="-122"/>
                <a:cs typeface="Arial" pitchFamily="34" charset="-120"/>
              </a:rPr>
              <a:t>Nelson 21.1
</a:t>
            </a:r>
            <a:pPr indent="0" marL="0">
              <a:lnSpc>
                <a:spcPts val="1600"/>
              </a:lnSpc>
              <a:buNone/>
            </a:pPr>
            <a:r>
              <a:rPr lang="en-US" sz="1200" dirty="0">
                <a:solidFill>
                  <a:srgbClr val="93A0B0"/>
                </a:solidFill>
                <a:latin typeface="Arial" pitchFamily="34" charset="0"/>
                <a:ea typeface="Arial" pitchFamily="34" charset="-122"/>
                <a:cs typeface="Arial" pitchFamily="34" charset="-120"/>
              </a:rPr>
              <a:t>runs almost anything — needs heavy feed</a:t>
            </a:r>
            <a:endParaRPr lang="en-US" sz="1400" dirty="0"/>
          </a:p>
        </p:txBody>
      </p:sp>
      <p:sp>
        <p:nvSpPr>
          <p:cNvPr id="18" name="Text 16"/>
          <p:cNvSpPr/>
          <p:nvPr/>
        </p:nvSpPr>
        <p:spPr>
          <a:xfrm>
            <a:off x="7086600" y="530352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BPCL/HPCL Mumbai   </a:t>
            </a:r>
            <a:pPr indent="0" marL="0">
              <a:lnSpc>
                <a:spcPts val="1600"/>
              </a:lnSpc>
              <a:buNone/>
            </a:pPr>
            <a:r>
              <a:rPr lang="en-US" sz="1300" b="1" dirty="0">
                <a:solidFill>
                  <a:srgbClr val="E85A58"/>
                </a:solidFill>
                <a:latin typeface="Arial" pitchFamily="34" charset="0"/>
                <a:ea typeface="Arial" pitchFamily="34" charset="-122"/>
                <a:cs typeface="Arial" pitchFamily="34" charset="-120"/>
              </a:rPr>
              <a:t>Nelson 7.0
</a:t>
            </a:r>
            <a:pPr indent="0" marL="0">
              <a:lnSpc>
                <a:spcPts val="1600"/>
              </a:lnSpc>
              <a:buNone/>
            </a:pPr>
            <a:r>
              <a:rPr lang="en-US" sz="1200" dirty="0">
                <a:solidFill>
                  <a:srgbClr val="93A0B0"/>
                </a:solidFill>
                <a:latin typeface="Arial" pitchFamily="34" charset="0"/>
                <a:ea typeface="Arial" pitchFamily="34" charset="-122"/>
                <a:cs typeface="Arial" pitchFamily="34" charset="-120"/>
              </a:rPr>
              <a:t>light, sweeter diet only — sour is a hard limit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WHAT WE BUILT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multi-agent brain: signal → scenario → reroute → brief</a:t>
            </a:r>
            <a:endParaRPr lang="en-US" sz="3100" dirty="0"/>
          </a:p>
        </p:txBody>
      </p:sp>
      <p:sp>
        <p:nvSpPr>
          <p:cNvPr id="4" name="Shape 2"/>
          <p:cNvSpPr/>
          <p:nvPr/>
        </p:nvSpPr>
        <p:spPr>
          <a:xfrm>
            <a:off x="566928" y="1920240"/>
            <a:ext cx="2395728" cy="1737360"/>
          </a:xfrm>
          <a:prstGeom prst="roundRect">
            <a:avLst>
              <a:gd name="adj" fmla="val 3684"/>
            </a:avLst>
          </a:prstGeom>
          <a:solidFill>
            <a:srgbClr val="121926"/>
          </a:solidFill>
          <a:ln w="9525">
            <a:solidFill>
              <a:srgbClr val="243040"/>
            </a:solidFill>
            <a:prstDash val="solid"/>
          </a:ln>
        </p:spPr>
      </p:sp>
      <p:sp>
        <p:nvSpPr>
          <p:cNvPr id="5" name="Shape 3"/>
          <p:cNvSpPr/>
          <p:nvPr/>
        </p:nvSpPr>
        <p:spPr>
          <a:xfrm>
            <a:off x="566928" y="1920240"/>
            <a:ext cx="2395728" cy="109728"/>
          </a:xfrm>
          <a:prstGeom prst="rect">
            <a:avLst/>
          </a:prstGeom>
          <a:solidFill>
            <a:srgbClr val="4B96DC"/>
          </a:solidFill>
          <a:ln/>
        </p:spPr>
      </p:sp>
      <p:sp>
        <p:nvSpPr>
          <p:cNvPr id="6" name="Text 4"/>
          <p:cNvSpPr/>
          <p:nvPr/>
        </p:nvSpPr>
        <p:spPr>
          <a:xfrm>
            <a:off x="566928" y="2194560"/>
            <a:ext cx="2395728" cy="365760"/>
          </a:xfrm>
          <a:prstGeom prst="rect">
            <a:avLst/>
          </a:prstGeom>
          <a:noFill/>
          <a:ln/>
        </p:spPr>
        <p:txBody>
          <a:bodyPr wrap="square" lIns="0" tIns="0" rIns="0" bIns="0" rtlCol="0" anchor="ctr"/>
          <a:lstStyle/>
          <a:p>
            <a:pPr algn="ctr" indent="0" marL="0">
              <a:buNone/>
            </a:pPr>
            <a:r>
              <a:rPr lang="en-US" sz="1900" b="1" dirty="0">
                <a:solidFill>
                  <a:srgbClr val="4B96DC"/>
                </a:solidFill>
                <a:latin typeface="Arial" pitchFamily="34" charset="0"/>
                <a:ea typeface="Arial" pitchFamily="34" charset="-122"/>
                <a:cs typeface="Arial" pitchFamily="34" charset="-120"/>
              </a:rPr>
              <a:t>SIGNAL</a:t>
            </a:r>
            <a:endParaRPr lang="en-US" sz="1900" dirty="0"/>
          </a:p>
        </p:txBody>
      </p:sp>
      <p:sp>
        <p:nvSpPr>
          <p:cNvPr id="7" name="Text 5"/>
          <p:cNvSpPr/>
          <p:nvPr/>
        </p:nvSpPr>
        <p:spPr>
          <a:xfrm>
            <a:off x="704088"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GDELT news agent +</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live AIS ship tracking</a:t>
            </a:r>
            <a:endParaRPr lang="en-US" sz="1200" dirty="0"/>
          </a:p>
        </p:txBody>
      </p:sp>
      <p:sp>
        <p:nvSpPr>
          <p:cNvPr id="8" name="Text 6"/>
          <p:cNvSpPr/>
          <p:nvPr/>
        </p:nvSpPr>
        <p:spPr>
          <a:xfrm>
            <a:off x="2990088"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3438144" y="1920240"/>
            <a:ext cx="2395728" cy="1737360"/>
          </a:xfrm>
          <a:prstGeom prst="roundRect">
            <a:avLst>
              <a:gd name="adj" fmla="val 3684"/>
            </a:avLst>
          </a:prstGeom>
          <a:solidFill>
            <a:srgbClr val="121926"/>
          </a:solidFill>
          <a:ln w="9525">
            <a:solidFill>
              <a:srgbClr val="243040"/>
            </a:solidFill>
            <a:prstDash val="solid"/>
          </a:ln>
        </p:spPr>
      </p:sp>
      <p:sp>
        <p:nvSpPr>
          <p:cNvPr id="10" name="Shape 8"/>
          <p:cNvSpPr/>
          <p:nvPr/>
        </p:nvSpPr>
        <p:spPr>
          <a:xfrm>
            <a:off x="3438144" y="1920240"/>
            <a:ext cx="2395728" cy="109728"/>
          </a:xfrm>
          <a:prstGeom prst="rect">
            <a:avLst/>
          </a:prstGeom>
          <a:solidFill>
            <a:srgbClr val="F2A623"/>
          </a:solidFill>
          <a:ln/>
        </p:spPr>
      </p:sp>
      <p:sp>
        <p:nvSpPr>
          <p:cNvPr id="11" name="Text 9"/>
          <p:cNvSpPr/>
          <p:nvPr/>
        </p:nvSpPr>
        <p:spPr>
          <a:xfrm>
            <a:off x="3438144" y="2194560"/>
            <a:ext cx="2395728" cy="365760"/>
          </a:xfrm>
          <a:prstGeom prst="rect">
            <a:avLst/>
          </a:prstGeom>
          <a:noFill/>
          <a:ln/>
        </p:spPr>
        <p:txBody>
          <a:bodyPr wrap="square" lIns="0" tIns="0" rIns="0" bIns="0" rtlCol="0" anchor="ctr"/>
          <a:lstStyle/>
          <a:p>
            <a:pPr algn="ctr" indent="0" marL="0">
              <a:buNone/>
            </a:pPr>
            <a:r>
              <a:rPr lang="en-US" sz="1900" b="1" dirty="0">
                <a:solidFill>
                  <a:srgbClr val="F2A623"/>
                </a:solidFill>
                <a:latin typeface="Arial" pitchFamily="34" charset="0"/>
                <a:ea typeface="Arial" pitchFamily="34" charset="-122"/>
                <a:cs typeface="Arial" pitchFamily="34" charset="-120"/>
              </a:rPr>
              <a:t>SCENARIO</a:t>
            </a:r>
            <a:endParaRPr lang="en-US" sz="1900" dirty="0"/>
          </a:p>
        </p:txBody>
      </p:sp>
      <p:sp>
        <p:nvSpPr>
          <p:cNvPr id="12" name="Text 10"/>
          <p:cNvSpPr/>
          <p:nvPr/>
        </p:nvSpPr>
        <p:spPr>
          <a:xfrm>
            <a:off x="3575304"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glass-box economic</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cascade + twin deficit</a:t>
            </a:r>
            <a:endParaRPr lang="en-US" sz="1200" dirty="0"/>
          </a:p>
        </p:txBody>
      </p:sp>
      <p:sp>
        <p:nvSpPr>
          <p:cNvPr id="13" name="Text 11"/>
          <p:cNvSpPr/>
          <p:nvPr/>
        </p:nvSpPr>
        <p:spPr>
          <a:xfrm>
            <a:off x="5861304"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4" name="Shape 12"/>
          <p:cNvSpPr/>
          <p:nvPr/>
        </p:nvSpPr>
        <p:spPr>
          <a:xfrm>
            <a:off x="6309360" y="1920240"/>
            <a:ext cx="2395728" cy="1737360"/>
          </a:xfrm>
          <a:prstGeom prst="roundRect">
            <a:avLst>
              <a:gd name="adj" fmla="val 3684"/>
            </a:avLst>
          </a:prstGeom>
          <a:solidFill>
            <a:srgbClr val="121926"/>
          </a:solidFill>
          <a:ln w="9525">
            <a:solidFill>
              <a:srgbClr val="243040"/>
            </a:solidFill>
            <a:prstDash val="solid"/>
          </a:ln>
        </p:spPr>
      </p:sp>
      <p:sp>
        <p:nvSpPr>
          <p:cNvPr id="15" name="Shape 13"/>
          <p:cNvSpPr/>
          <p:nvPr/>
        </p:nvSpPr>
        <p:spPr>
          <a:xfrm>
            <a:off x="6309360" y="1920240"/>
            <a:ext cx="2395728" cy="109728"/>
          </a:xfrm>
          <a:prstGeom prst="rect">
            <a:avLst/>
          </a:prstGeom>
          <a:solidFill>
            <a:srgbClr val="5DCAA5"/>
          </a:solidFill>
          <a:ln/>
        </p:spPr>
      </p:sp>
      <p:sp>
        <p:nvSpPr>
          <p:cNvPr id="16" name="Text 14"/>
          <p:cNvSpPr/>
          <p:nvPr/>
        </p:nvSpPr>
        <p:spPr>
          <a:xfrm>
            <a:off x="6309360" y="2194560"/>
            <a:ext cx="2395728" cy="365760"/>
          </a:xfrm>
          <a:prstGeom prst="rect">
            <a:avLst/>
          </a:prstGeom>
          <a:noFill/>
          <a:ln/>
        </p:spPr>
        <p:txBody>
          <a:bodyPr wrap="square" lIns="0" tIns="0" rIns="0" bIns="0" rtlCol="0" anchor="ctr"/>
          <a:lstStyle/>
          <a:p>
            <a:pPr algn="ctr" indent="0" marL="0">
              <a:buNone/>
            </a:pPr>
            <a:r>
              <a:rPr lang="en-US" sz="1900" b="1" dirty="0">
                <a:solidFill>
                  <a:srgbClr val="5DCAA5"/>
                </a:solidFill>
                <a:latin typeface="Arial" pitchFamily="34" charset="0"/>
                <a:ea typeface="Arial" pitchFamily="34" charset="-122"/>
                <a:cs typeface="Arial" pitchFamily="34" charset="-120"/>
              </a:rPr>
              <a:t>REROUTE</a:t>
            </a:r>
            <a:endParaRPr lang="en-US" sz="1900" dirty="0"/>
          </a:p>
        </p:txBody>
      </p:sp>
      <p:sp>
        <p:nvSpPr>
          <p:cNvPr id="17" name="Text 15"/>
          <p:cNvSpPr/>
          <p:nvPr/>
        </p:nvSpPr>
        <p:spPr>
          <a:xfrm>
            <a:off x="6446520"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grade-aware LP optimizer</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over real refinery diets</a:t>
            </a:r>
            <a:endParaRPr lang="en-US" sz="1200" dirty="0"/>
          </a:p>
        </p:txBody>
      </p:sp>
      <p:sp>
        <p:nvSpPr>
          <p:cNvPr id="18" name="Text 16"/>
          <p:cNvSpPr/>
          <p:nvPr/>
        </p:nvSpPr>
        <p:spPr>
          <a:xfrm>
            <a:off x="8732520"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9" name="Shape 17"/>
          <p:cNvSpPr/>
          <p:nvPr/>
        </p:nvSpPr>
        <p:spPr>
          <a:xfrm>
            <a:off x="9180576" y="1920240"/>
            <a:ext cx="2395728" cy="1737360"/>
          </a:xfrm>
          <a:prstGeom prst="roundRect">
            <a:avLst>
              <a:gd name="adj" fmla="val 3684"/>
            </a:avLst>
          </a:prstGeom>
          <a:solidFill>
            <a:srgbClr val="121926"/>
          </a:solidFill>
          <a:ln w="9525">
            <a:solidFill>
              <a:srgbClr val="243040"/>
            </a:solidFill>
            <a:prstDash val="solid"/>
          </a:ln>
        </p:spPr>
      </p:sp>
      <p:sp>
        <p:nvSpPr>
          <p:cNvPr id="20" name="Shape 18"/>
          <p:cNvSpPr/>
          <p:nvPr/>
        </p:nvSpPr>
        <p:spPr>
          <a:xfrm>
            <a:off x="9180576" y="1920240"/>
            <a:ext cx="2395728" cy="109728"/>
          </a:xfrm>
          <a:prstGeom prst="rect">
            <a:avLst/>
          </a:prstGeom>
          <a:solidFill>
            <a:srgbClr val="E85A58"/>
          </a:solidFill>
          <a:ln/>
        </p:spPr>
      </p:sp>
      <p:sp>
        <p:nvSpPr>
          <p:cNvPr id="21" name="Text 19"/>
          <p:cNvSpPr/>
          <p:nvPr/>
        </p:nvSpPr>
        <p:spPr>
          <a:xfrm>
            <a:off x="9180576" y="2194560"/>
            <a:ext cx="2395728" cy="365760"/>
          </a:xfrm>
          <a:prstGeom prst="rect">
            <a:avLst/>
          </a:prstGeom>
          <a:noFill/>
          <a:ln/>
        </p:spPr>
        <p:txBody>
          <a:bodyPr wrap="square" lIns="0" tIns="0" rIns="0" bIns="0" rtlCol="0" anchor="ctr"/>
          <a:lstStyle/>
          <a:p>
            <a:pPr algn="ctr" indent="0" marL="0">
              <a:buNone/>
            </a:pPr>
            <a:r>
              <a:rPr lang="en-US" sz="1900" b="1" dirty="0">
                <a:solidFill>
                  <a:srgbClr val="E85A58"/>
                </a:solidFill>
                <a:latin typeface="Arial" pitchFamily="34" charset="0"/>
                <a:ea typeface="Arial" pitchFamily="34" charset="-122"/>
                <a:cs typeface="Arial" pitchFamily="34" charset="-120"/>
              </a:rPr>
              <a:t>BRIEF</a:t>
            </a:r>
            <a:endParaRPr lang="en-US" sz="1900" dirty="0"/>
          </a:p>
        </p:txBody>
      </p:sp>
      <p:sp>
        <p:nvSpPr>
          <p:cNvPr id="22" name="Text 20"/>
          <p:cNvSpPr/>
          <p:nvPr/>
        </p:nvSpPr>
        <p:spPr>
          <a:xfrm>
            <a:off x="9317736"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executive decision memo,</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numbers from the engine</a:t>
            </a:r>
            <a:endParaRPr lang="en-US" sz="1200" dirty="0"/>
          </a:p>
        </p:txBody>
      </p:sp>
      <p:sp>
        <p:nvSpPr>
          <p:cNvPr id="23" name="Shape 21"/>
          <p:cNvSpPr/>
          <p:nvPr/>
        </p:nvSpPr>
        <p:spPr>
          <a:xfrm>
            <a:off x="685800" y="4105656"/>
            <a:ext cx="164592" cy="164592"/>
          </a:xfrm>
          <a:prstGeom prst="ellipse">
            <a:avLst/>
          </a:prstGeom>
          <a:solidFill>
            <a:srgbClr val="4B96DC"/>
          </a:solidFill>
          <a:ln/>
        </p:spPr>
      </p:sp>
      <p:sp>
        <p:nvSpPr>
          <p:cNvPr id="24" name="Text 22"/>
          <p:cNvSpPr/>
          <p:nvPr/>
        </p:nvSpPr>
        <p:spPr>
          <a:xfrm>
            <a:off x="960120" y="4041648"/>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REAL public data — no synthetic signals</a:t>
            </a:r>
            <a:endParaRPr lang="en-US" sz="1400" dirty="0"/>
          </a:p>
        </p:txBody>
      </p:sp>
      <p:sp>
        <p:nvSpPr>
          <p:cNvPr id="25" name="Shape 23"/>
          <p:cNvSpPr/>
          <p:nvPr/>
        </p:nvSpPr>
        <p:spPr>
          <a:xfrm>
            <a:off x="685800" y="4581144"/>
            <a:ext cx="164592" cy="164592"/>
          </a:xfrm>
          <a:prstGeom prst="ellipse">
            <a:avLst/>
          </a:prstGeom>
          <a:solidFill>
            <a:srgbClr val="F2A623"/>
          </a:solidFill>
          <a:ln/>
        </p:spPr>
      </p:sp>
      <p:sp>
        <p:nvSpPr>
          <p:cNvPr id="26" name="Text 24"/>
          <p:cNvSpPr/>
          <p:nvPr/>
        </p:nvSpPr>
        <p:spPr>
          <a:xfrm>
            <a:off x="960120" y="4517136"/>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Explicit, testable assumptions (every parameter named &amp; editable)</a:t>
            </a:r>
            <a:endParaRPr lang="en-US" sz="1400" dirty="0"/>
          </a:p>
        </p:txBody>
      </p:sp>
      <p:sp>
        <p:nvSpPr>
          <p:cNvPr id="27" name="Shape 25"/>
          <p:cNvSpPr/>
          <p:nvPr/>
        </p:nvSpPr>
        <p:spPr>
          <a:xfrm>
            <a:off x="685800" y="5056632"/>
            <a:ext cx="164592" cy="164592"/>
          </a:xfrm>
          <a:prstGeom prst="ellipse">
            <a:avLst/>
          </a:prstGeom>
          <a:solidFill>
            <a:srgbClr val="A78BDB"/>
          </a:solidFill>
          <a:ln/>
        </p:spPr>
      </p:sp>
      <p:sp>
        <p:nvSpPr>
          <p:cNvPr id="28" name="Text 26"/>
          <p:cNvSpPr/>
          <p:nvPr/>
        </p:nvSpPr>
        <p:spPr>
          <a:xfrm>
            <a:off x="960120" y="4992624"/>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Knowledge graph: supplier → route → chokepoint → refinery (50 nodes, 163 edges)</a:t>
            </a:r>
            <a:endParaRPr lang="en-US" sz="1400" dirty="0"/>
          </a:p>
        </p:txBody>
      </p:sp>
      <p:sp>
        <p:nvSpPr>
          <p:cNvPr id="29" name="Shape 27"/>
          <p:cNvSpPr/>
          <p:nvPr/>
        </p:nvSpPr>
        <p:spPr>
          <a:xfrm>
            <a:off x="685800" y="5532120"/>
            <a:ext cx="164592" cy="164592"/>
          </a:xfrm>
          <a:prstGeom prst="ellipse">
            <a:avLst/>
          </a:prstGeom>
          <a:solidFill>
            <a:srgbClr val="5DCAA5"/>
          </a:solidFill>
          <a:ln/>
        </p:spPr>
      </p:sp>
      <p:sp>
        <p:nvSpPr>
          <p:cNvPr id="30" name="Text 28"/>
          <p:cNvSpPr/>
          <p:nvPr/>
        </p:nvSpPr>
        <p:spPr>
          <a:xfrm>
            <a:off x="960120" y="5468112"/>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LLM writes words, never numbers — engine stays auditable</a:t>
            </a:r>
            <a:endParaRPr lang="en-US" sz="1400" dirty="0"/>
          </a:p>
        </p:txBody>
      </p:sp>
      <p:sp>
        <p:nvSpPr>
          <p:cNvPr id="31" name="Shape 29"/>
          <p:cNvSpPr/>
          <p:nvPr/>
        </p:nvSpPr>
        <p:spPr>
          <a:xfrm>
            <a:off x="8321040" y="4023360"/>
            <a:ext cx="3319272" cy="1920240"/>
          </a:xfrm>
          <a:prstGeom prst="roundRect">
            <a:avLst>
              <a:gd name="adj" fmla="val 3333"/>
            </a:avLst>
          </a:prstGeom>
          <a:solidFill>
            <a:srgbClr val="10151E"/>
          </a:solidFill>
          <a:ln w="9525">
            <a:solidFill>
              <a:srgbClr val="243040"/>
            </a:solidFill>
            <a:prstDash val="solid"/>
          </a:ln>
        </p:spPr>
      </p:sp>
      <p:sp>
        <p:nvSpPr>
          <p:cNvPr id="32" name="Text 30"/>
          <p:cNvSpPr/>
          <p:nvPr/>
        </p:nvSpPr>
        <p:spPr>
          <a:xfrm>
            <a:off x="8412480" y="4224528"/>
            <a:ext cx="3108960" cy="685800"/>
          </a:xfrm>
          <a:prstGeom prst="rect">
            <a:avLst/>
          </a:prstGeom>
          <a:noFill/>
          <a:ln/>
        </p:spPr>
        <p:txBody>
          <a:bodyPr wrap="square" lIns="0" tIns="0" rIns="0" bIns="0" rtlCol="0" anchor="ctr"/>
          <a:lstStyle/>
          <a:p>
            <a:pPr algn="ctr" indent="0" marL="0">
              <a:buNone/>
            </a:pPr>
            <a:r>
              <a:rPr lang="en-US" sz="3800" b="1" dirty="0">
                <a:solidFill>
                  <a:srgbClr val="5DCAA5"/>
                </a:solidFill>
                <a:latin typeface="Arial" pitchFamily="34" charset="0"/>
                <a:ea typeface="Arial" pitchFamily="34" charset="-122"/>
                <a:cs typeface="Arial" pitchFamily="34" charset="-120"/>
              </a:rPr>
              <a:t>45 ms</a:t>
            </a:r>
            <a:endParaRPr lang="en-US" sz="3800" dirty="0"/>
          </a:p>
        </p:txBody>
      </p:sp>
      <p:sp>
        <p:nvSpPr>
          <p:cNvPr id="33" name="Text 31"/>
          <p:cNvSpPr/>
          <p:nvPr/>
        </p:nvSpPr>
        <p:spPr>
          <a:xfrm>
            <a:off x="8412480" y="4882896"/>
            <a:ext cx="310896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end-to-end: signal to executable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recommendation</a:t>
            </a:r>
            <a:endParaRPr lang="en-US" sz="1150" dirty="0"/>
          </a:p>
        </p:txBody>
      </p:sp>
      <p:sp>
        <p:nvSpPr>
          <p:cNvPr id="34" name="Text 32"/>
          <p:cNvSpPr/>
          <p:nvPr/>
        </p:nvSpPr>
        <p:spPr>
          <a:xfrm>
            <a:off x="8549640" y="5349240"/>
            <a:ext cx="2926080" cy="502920"/>
          </a:xfrm>
          <a:prstGeom prst="rect">
            <a:avLst/>
          </a:prstGeom>
          <a:noFill/>
          <a:ln/>
        </p:spPr>
        <p:txBody>
          <a:bodyPr wrap="square" lIns="0" tIns="0" rIns="0" bIns="0" rtlCol="0" anchor="ctr"/>
          <a:lstStyle/>
          <a:p>
            <a:pPr algn="ctr" indent="0" marL="0">
              <a:buNone/>
            </a:pPr>
            <a:r>
              <a:rPr lang="en-US" sz="1050" dirty="0">
                <a:solidFill>
                  <a:srgbClr val="5A6472"/>
                </a:solidFill>
                <a:latin typeface="Arial" pitchFamily="34" charset="0"/>
                <a:ea typeface="Arial" pitchFamily="34" charset="-122"/>
                <a:cs typeface="Arial" pitchFamily="34" charset="-120"/>
              </a:rPr>
              <a:t>vs the 47-day average for economies without response intelligence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FOUNDATION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Built on official trade records — not synthetic data</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863840" cy="914400"/>
        </p:xfrm>
        <a:graphic>
          <a:graphicData uri="http://schemas.openxmlformats.org/drawingml/2006/table">
            <a:tbl>
              <a:tblPr/>
              <a:tblGrid>
                <a:gridCol w="2514600"/>
                <a:gridCol w="777240"/>
                <a:gridCol w="777240"/>
                <a:gridCol w="1417320"/>
                <a:gridCol w="2377440"/>
              </a:tblGrid>
              <a:tr h="384048">
                <a:tc>
                  <a:txBody>
                    <a:bodyPr/>
                    <a:lstStyle/>
                    <a:p>
                      <a:pPr indent="0" marL="0">
                        <a:buNone/>
                      </a:pPr>
                      <a:r>
                        <a:rPr lang="en-US" sz="1150" b="1" dirty="0">
                          <a:solidFill>
                            <a:srgbClr val="93A0B0"/>
                          </a:solidFill>
                          <a:latin typeface="Arial" pitchFamily="34" charset="0"/>
                          <a:ea typeface="Arial" pitchFamily="34" charset="-122"/>
                          <a:cs typeface="Arial" pitchFamily="34" charset="-120"/>
                        </a:rPr>
                        <a:t>Refinery (port)</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MT/yr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Nelson</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Hormuz exposure</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b="1" dirty="0">
                          <a:solidFill>
                            <a:srgbClr val="93A0B0"/>
                          </a:solidFill>
                          <a:latin typeface="Arial" pitchFamily="34" charset="0"/>
                          <a:ea typeface="Arial" pitchFamily="34" charset="-122"/>
                          <a:cs typeface="Arial" pitchFamily="34" charset="-120"/>
                        </a:rPr>
                        <a:t>Top real suppliers</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RIL Jamnagar (Sikka + SEZ)</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76.3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21.1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43%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35 · Saudi 17 · Iraq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Nayara Vadinar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41.7</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11.8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5DCAA5"/>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56 · Iraq 18 · Angola 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IOCL Paradip</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34.8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Iraq 24 · Russia 21 · UAE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HMEL Bathinda (Mundra)</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12.5</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32 · Saudi 18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BPCL/HPCL Mumbai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60%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Saudi 25 · UAE 23 · US 21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 Kochi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31 · UAE 23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bl>
          </a:graphicData>
        </a:graphic>
      </p:graphicFrame>
      <p:sp>
        <p:nvSpPr>
          <p:cNvPr id="5" name="Shape 2"/>
          <p:cNvSpPr/>
          <p:nvPr/>
        </p:nvSpPr>
        <p:spPr>
          <a:xfrm>
            <a:off x="8686800" y="1691640"/>
            <a:ext cx="2953512" cy="1828800"/>
          </a:xfrm>
          <a:prstGeom prst="roundRect">
            <a:avLst>
              <a:gd name="adj" fmla="val 3500"/>
            </a:avLst>
          </a:prstGeom>
          <a:solidFill>
            <a:srgbClr val="10151E"/>
          </a:solidFill>
          <a:ln w="9525">
            <a:solidFill>
              <a:srgbClr val="243040"/>
            </a:solidFill>
            <a:prstDash val="solid"/>
          </a:ln>
        </p:spPr>
      </p:sp>
      <p:sp>
        <p:nvSpPr>
          <p:cNvPr id="6" name="Text 3"/>
          <p:cNvSpPr/>
          <p:nvPr/>
        </p:nvSpPr>
        <p:spPr>
          <a:xfrm>
            <a:off x="8778240" y="1874520"/>
            <a:ext cx="2743200" cy="685800"/>
          </a:xfrm>
          <a:prstGeom prst="rect">
            <a:avLst/>
          </a:prstGeom>
          <a:noFill/>
          <a:ln/>
        </p:spPr>
        <p:txBody>
          <a:bodyPr wrap="square" lIns="0" tIns="0" rIns="0" bIns="0" rtlCol="0" anchor="ctr"/>
          <a:lstStyle/>
          <a:p>
            <a:pPr algn="ctr" indent="0" marL="0">
              <a:buNone/>
            </a:pPr>
            <a:r>
              <a:rPr lang="en-US" sz="4000" b="1" dirty="0">
                <a:solidFill>
                  <a:srgbClr val="F2A623"/>
                </a:solidFill>
                <a:latin typeface="Arial" pitchFamily="34" charset="0"/>
                <a:ea typeface="Arial" pitchFamily="34" charset="-122"/>
                <a:cs typeface="Arial" pitchFamily="34" charset="-120"/>
              </a:rPr>
              <a:t>46%</a:t>
            </a:r>
            <a:endParaRPr lang="en-US" sz="4000" dirty="0"/>
          </a:p>
        </p:txBody>
      </p:sp>
      <p:sp>
        <p:nvSpPr>
          <p:cNvPr id="7" name="Text 4"/>
          <p:cNvSpPr/>
          <p:nvPr/>
        </p:nvSpPr>
        <p:spPr>
          <a:xfrm>
            <a:off x="8778240" y="253288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national Hormuz exposure —</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DERIVED from customs data</a:t>
            </a:r>
            <a:endParaRPr lang="en-US" sz="1150" dirty="0"/>
          </a:p>
        </p:txBody>
      </p:sp>
      <p:sp>
        <p:nvSpPr>
          <p:cNvPr id="8" name="Shape 5"/>
          <p:cNvSpPr/>
          <p:nvPr/>
        </p:nvSpPr>
        <p:spPr>
          <a:xfrm>
            <a:off x="8686800" y="3703320"/>
            <a:ext cx="2953512" cy="1463040"/>
          </a:xfrm>
          <a:prstGeom prst="roundRect">
            <a:avLst>
              <a:gd name="adj" fmla="val 4375"/>
            </a:avLst>
          </a:prstGeom>
          <a:solidFill>
            <a:srgbClr val="10151E"/>
          </a:solidFill>
          <a:ln w="9525">
            <a:solidFill>
              <a:srgbClr val="243040"/>
            </a:solidFill>
            <a:prstDash val="solid"/>
          </a:ln>
        </p:spPr>
      </p:sp>
      <p:sp>
        <p:nvSpPr>
          <p:cNvPr id="9" name="Text 6"/>
          <p:cNvSpPr/>
          <p:nvPr/>
        </p:nvSpPr>
        <p:spPr>
          <a:xfrm>
            <a:off x="8778240" y="3840480"/>
            <a:ext cx="2743200"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10 × 36</a:t>
            </a:r>
            <a:endParaRPr lang="en-US" sz="3000" dirty="0"/>
          </a:p>
        </p:txBody>
      </p:sp>
      <p:sp>
        <p:nvSpPr>
          <p:cNvPr id="10" name="Text 7"/>
          <p:cNvSpPr/>
          <p:nvPr/>
        </p:nvSpPr>
        <p:spPr>
          <a:xfrm>
            <a:off x="8778240" y="449884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refineries × supplier grades,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real volumes &amp; landed prices</a:t>
            </a:r>
            <a:endParaRPr lang="en-US" sz="1150" dirty="0"/>
          </a:p>
        </p:txBody>
      </p:sp>
      <p:sp>
        <p:nvSpPr>
          <p:cNvPr id="11" name="Text 8"/>
          <p:cNvSpPr/>
          <p:nvPr/>
        </p:nvSpPr>
        <p:spPr>
          <a:xfrm>
            <a:off x="548640" y="5120640"/>
            <a:ext cx="7863840" cy="9144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refinery’s crude diet, Hormuz dependence, and even its processing limits are grounded in what it actually imported — DGCIS port-wise records, PPAC capacities, public Nelson complexity, crude assay libraries.</a:t>
            </a:r>
            <a:endParaRPr lang="en-US" sz="1350" dirty="0"/>
          </a:p>
        </p:txBody>
      </p:sp>
      <p:sp>
        <p:nvSpPr>
          <p:cNvPr id="12" name="Text 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DGCIS “India’s Import by Principal Commodity” May 2025–Apr 2026 · port→refinery mapping · country→grade assay mapping (crudemonitor/BP/ENI)</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RESULT THAT MATTERS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“fungible” plan is physically impossible. Ours is not.</a:t>
            </a:r>
            <a:endParaRPr lang="en-US" sz="3100" dirty="0"/>
          </a:p>
        </p:txBody>
      </p:sp>
      <p:sp>
        <p:nvSpPr>
          <p:cNvPr id="4" name="Shape 2"/>
          <p:cNvSpPr/>
          <p:nvPr/>
        </p:nvSpPr>
        <p:spPr>
          <a:xfrm>
            <a:off x="548640" y="1783080"/>
            <a:ext cx="5394960" cy="2834640"/>
          </a:xfrm>
          <a:prstGeom prst="roundRect">
            <a:avLst>
              <a:gd name="adj" fmla="val 2258"/>
            </a:avLst>
          </a:prstGeom>
          <a:solidFill>
            <a:srgbClr val="1A1114"/>
          </a:solidFill>
          <a:ln w="9525">
            <a:solidFill>
              <a:srgbClr val="243040"/>
            </a:solidFill>
            <a:prstDash val="solid"/>
          </a:ln>
        </p:spPr>
      </p:sp>
      <p:sp>
        <p:nvSpPr>
          <p:cNvPr id="5" name="Text 3"/>
          <p:cNvSpPr/>
          <p:nvPr/>
        </p:nvSpPr>
        <p:spPr>
          <a:xfrm>
            <a:off x="822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NAIVE  ·  “oil is oil”</a:t>
            </a:r>
            <a:endParaRPr lang="en-US" sz="1300" dirty="0"/>
          </a:p>
        </p:txBody>
      </p:sp>
      <p:sp>
        <p:nvSpPr>
          <p:cNvPr id="6" name="Text 4"/>
          <p:cNvSpPr/>
          <p:nvPr/>
        </p:nvSpPr>
        <p:spPr>
          <a:xfrm>
            <a:off x="822960" y="2331720"/>
            <a:ext cx="4846320" cy="640080"/>
          </a:xfrm>
          <a:prstGeom prst="rect">
            <a:avLst/>
          </a:prstGeom>
          <a:noFill/>
          <a:ln/>
        </p:spPr>
        <p:txBody>
          <a:bodyPr wrap="square" lIns="0" tIns="0" rIns="0" bIns="0" rtlCol="0" anchor="ctr"/>
          <a:lstStyle/>
          <a:p>
            <a:pPr indent="0" marL="0">
              <a:buNone/>
            </a:pPr>
            <a:r>
              <a:rPr lang="en-US" sz="4000" b="1" dirty="0">
                <a:solidFill>
                  <a:srgbClr val="E85A58"/>
                </a:solidFill>
                <a:latin typeface="Arial" pitchFamily="34" charset="0"/>
                <a:ea typeface="Arial" pitchFamily="34" charset="-122"/>
                <a:cs typeface="Arial" pitchFamily="34" charset="-120"/>
              </a:rPr>
              <a:t>INFEASIBLE</a:t>
            </a:r>
            <a:endParaRPr lang="en-US" sz="4000" dirty="0"/>
          </a:p>
        </p:txBody>
      </p:sp>
      <p:sp>
        <p:nvSpPr>
          <p:cNvPr id="7" name="Text 5"/>
          <p:cNvSpPr/>
          <p:nvPr/>
        </p:nvSpPr>
        <p:spPr>
          <a:xfrm>
            <a:off x="822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250 kb/d of ultra-light condensate assigned to deep coking refineries that </a:t>
            </a:r>
            <a:pPr indent="0" marL="0">
              <a:lnSpc>
                <a:spcPts val="1900"/>
              </a:lnSpc>
              <a:buNone/>
            </a:pPr>
            <a:r>
              <a:rPr lang="en-US" sz="1350" b="1" dirty="0">
                <a:solidFill>
                  <a:srgbClr val="E85A58"/>
                </a:solidFill>
                <a:latin typeface="Arial" pitchFamily="34" charset="0"/>
                <a:ea typeface="Arial" pitchFamily="34" charset="-122"/>
                <a:cs typeface="Arial" pitchFamily="34" charset="-120"/>
              </a:rPr>
              <a:t>physically cannot run it</a:t>
            </a:r>
            <a:pPr indent="0" marL="0">
              <a:lnSpc>
                <a:spcPts val="1900"/>
              </a:lnSpc>
              <a:buNone/>
            </a:pPr>
            <a:r>
              <a:rPr lang="en-US" sz="1350" dirty="0">
                <a:solidFill>
                  <a:srgbClr val="93A0B0"/>
                </a:solidFill>
                <a:latin typeface="Arial" pitchFamily="34" charset="0"/>
                <a:ea typeface="Arial" pitchFamily="34" charset="-122"/>
                <a:cs typeface="Arial" pitchFamily="34" charset="-120"/>
              </a:rPr>
              <a:t>. A grade failure — not a logistics failure. This is the plan a fungible model would execute.</a:t>
            </a:r>
            <a:endParaRPr lang="en-US" sz="1350" dirty="0"/>
          </a:p>
        </p:txBody>
      </p:sp>
      <p:sp>
        <p:nvSpPr>
          <p:cNvPr id="8" name="Shape 6"/>
          <p:cNvSpPr/>
          <p:nvPr/>
        </p:nvSpPr>
        <p:spPr>
          <a:xfrm>
            <a:off x="6263640" y="1783080"/>
            <a:ext cx="5394960" cy="2834640"/>
          </a:xfrm>
          <a:prstGeom prst="roundRect">
            <a:avLst>
              <a:gd name="adj" fmla="val 2258"/>
            </a:avLst>
          </a:prstGeom>
          <a:solidFill>
            <a:srgbClr val="0E1A17"/>
          </a:solidFill>
          <a:ln w="9525">
            <a:solidFill>
              <a:srgbClr val="243040"/>
            </a:solidFill>
            <a:prstDash val="solid"/>
          </a:ln>
        </p:spPr>
      </p:sp>
      <p:sp>
        <p:nvSpPr>
          <p:cNvPr id="9" name="Text 7"/>
          <p:cNvSpPr/>
          <p:nvPr/>
        </p:nvSpPr>
        <p:spPr>
          <a:xfrm>
            <a:off x="6537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KARNADHAR  ·  grade-aware LP</a:t>
            </a:r>
            <a:endParaRPr lang="en-US" sz="1300" dirty="0"/>
          </a:p>
        </p:txBody>
      </p:sp>
      <p:sp>
        <p:nvSpPr>
          <p:cNvPr id="10" name="Text 8"/>
          <p:cNvSpPr/>
          <p:nvPr/>
        </p:nvSpPr>
        <p:spPr>
          <a:xfrm>
            <a:off x="6537960" y="2331720"/>
            <a:ext cx="4846320" cy="640080"/>
          </a:xfrm>
          <a:prstGeom prst="rect">
            <a:avLst/>
          </a:prstGeom>
          <a:noFill/>
          <a:ln/>
        </p:spPr>
        <p:txBody>
          <a:bodyPr wrap="square" lIns="0" tIns="0" rIns="0" bIns="0" rtlCol="0" anchor="ctr"/>
          <a:lstStyle/>
          <a:p>
            <a:pPr indent="0" marL="0">
              <a:buNone/>
            </a:pPr>
            <a:r>
              <a:rPr lang="en-US" sz="4000" b="1" dirty="0">
                <a:solidFill>
                  <a:srgbClr val="5DCAA5"/>
                </a:solidFill>
                <a:latin typeface="Arial" pitchFamily="34" charset="0"/>
                <a:ea typeface="Arial" pitchFamily="34" charset="-122"/>
                <a:cs typeface="Arial" pitchFamily="34" charset="-120"/>
              </a:rPr>
              <a:t>FEASIBLE</a:t>
            </a:r>
            <a:endParaRPr lang="en-US" sz="4000" dirty="0"/>
          </a:p>
        </p:txBody>
      </p:sp>
      <p:sp>
        <p:nvSpPr>
          <p:cNvPr id="11" name="Text 9"/>
          <p:cNvSpPr/>
          <p:nvPr/>
        </p:nvSpPr>
        <p:spPr>
          <a:xfrm>
            <a:off x="6537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barrel runnable, sourced, within desulphurisation and asphaltene capacity. Heavy-sour rationed to the cokers (Jamnagar, Paradip); light-sweet routed to simple refineries (Mumbai, Chennai). </a:t>
            </a:r>
            <a:pPr indent="0" marL="0">
              <a:lnSpc>
                <a:spcPts val="1900"/>
              </a:lnSpc>
              <a:buNone/>
            </a:pPr>
            <a:r>
              <a:rPr lang="en-US" sz="1350" b="1" dirty="0">
                <a:solidFill>
                  <a:srgbClr val="5DCAA5"/>
                </a:solidFill>
                <a:latin typeface="Arial" pitchFamily="34" charset="0"/>
                <a:ea typeface="Arial" pitchFamily="34" charset="-122"/>
                <a:cs typeface="Arial" pitchFamily="34" charset="-120"/>
              </a:rPr>
              <a:t>Executable by a procurement desk.</a:t>
            </a:r>
            <a:endParaRPr lang="en-US" sz="1350" dirty="0"/>
          </a:p>
        </p:txBody>
      </p:sp>
      <p:sp>
        <p:nvSpPr>
          <p:cNvPr id="12" name="Shape 10"/>
          <p:cNvSpPr/>
          <p:nvPr/>
        </p:nvSpPr>
        <p:spPr>
          <a:xfrm>
            <a:off x="548640" y="4892040"/>
            <a:ext cx="3538728" cy="1325880"/>
          </a:xfrm>
          <a:prstGeom prst="roundRect">
            <a:avLst>
              <a:gd name="adj" fmla="val 4828"/>
            </a:avLst>
          </a:prstGeom>
          <a:solidFill>
            <a:srgbClr val="121926"/>
          </a:solidFill>
          <a:ln w="9525">
            <a:solidFill>
              <a:srgbClr val="243040"/>
            </a:solidFill>
            <a:prstDash val="solid"/>
          </a:ln>
        </p:spPr>
      </p:sp>
      <p:sp>
        <p:nvSpPr>
          <p:cNvPr id="13" name="Text 11"/>
          <p:cNvSpPr/>
          <p:nvPr/>
        </p:nvSpPr>
        <p:spPr>
          <a:xfrm>
            <a:off x="640080" y="5029200"/>
            <a:ext cx="3355848" cy="685800"/>
          </a:xfrm>
          <a:prstGeom prst="rect">
            <a:avLst/>
          </a:prstGeom>
          <a:noFill/>
          <a:ln/>
        </p:spPr>
        <p:txBody>
          <a:bodyPr wrap="square" lIns="0" tIns="0" rIns="0" bIns="0" rtlCol="0" anchor="ctr"/>
          <a:lstStyle/>
          <a:p>
            <a:pPr algn="ctr" indent="0" marL="0">
              <a:buNone/>
            </a:pPr>
            <a:r>
              <a:rPr lang="en-US" sz="2600" b="1" dirty="0">
                <a:solidFill>
                  <a:srgbClr val="5DCAA5"/>
                </a:solidFill>
                <a:latin typeface="Arial" pitchFamily="34" charset="0"/>
                <a:ea typeface="Arial" pitchFamily="34" charset="-122"/>
                <a:cs typeface="Arial" pitchFamily="34" charset="-120"/>
              </a:rPr>
              <a:t>$3.15 M/day</a:t>
            </a:r>
            <a:endParaRPr lang="en-US" sz="2600" dirty="0"/>
          </a:p>
        </p:txBody>
      </p:sp>
      <p:sp>
        <p:nvSpPr>
          <p:cNvPr id="14" name="Text 12"/>
          <p:cNvSpPr/>
          <p:nvPr/>
        </p:nvSpPr>
        <p:spPr>
          <a:xfrm>
            <a:off x="640080"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product yield protected by grade-matching</a:t>
            </a:r>
            <a:endParaRPr lang="en-US" sz="1150" dirty="0"/>
          </a:p>
        </p:txBody>
      </p:sp>
      <p:sp>
        <p:nvSpPr>
          <p:cNvPr id="15" name="Shape 13"/>
          <p:cNvSpPr/>
          <p:nvPr/>
        </p:nvSpPr>
        <p:spPr>
          <a:xfrm>
            <a:off x="4325112" y="4892040"/>
            <a:ext cx="3538728" cy="1325880"/>
          </a:xfrm>
          <a:prstGeom prst="roundRect">
            <a:avLst>
              <a:gd name="adj" fmla="val 4828"/>
            </a:avLst>
          </a:prstGeom>
          <a:solidFill>
            <a:srgbClr val="121926"/>
          </a:solidFill>
          <a:ln w="9525">
            <a:solidFill>
              <a:srgbClr val="243040"/>
            </a:solidFill>
            <a:prstDash val="solid"/>
          </a:ln>
        </p:spPr>
      </p:sp>
      <p:sp>
        <p:nvSpPr>
          <p:cNvPr id="16" name="Text 14"/>
          <p:cNvSpPr/>
          <p:nvPr/>
        </p:nvSpPr>
        <p:spPr>
          <a:xfrm>
            <a:off x="4416552" y="5029200"/>
            <a:ext cx="3355848" cy="685800"/>
          </a:xfrm>
          <a:prstGeom prst="rect">
            <a:avLst/>
          </a:prstGeom>
          <a:noFill/>
          <a:ln/>
        </p:spPr>
        <p:txBody>
          <a:bodyPr wrap="square" lIns="0" tIns="0" rIns="0" bIns="0" rtlCol="0" anchor="ctr"/>
          <a:lstStyle/>
          <a:p>
            <a:pPr algn="ctr" indent="0" marL="0">
              <a:buNone/>
            </a:pPr>
            <a:r>
              <a:rPr lang="en-US" sz="2600" b="1" dirty="0">
                <a:solidFill>
                  <a:srgbClr val="F2A623"/>
                </a:solidFill>
                <a:latin typeface="Arial" pitchFamily="34" charset="0"/>
                <a:ea typeface="Arial" pitchFamily="34" charset="-122"/>
                <a:cs typeface="Arial" pitchFamily="34" charset="-120"/>
              </a:rPr>
              <a:t>~$1.15 bn/yr</a:t>
            </a:r>
            <a:endParaRPr lang="en-US" sz="2600" dirty="0"/>
          </a:p>
        </p:txBody>
      </p:sp>
      <p:sp>
        <p:nvSpPr>
          <p:cNvPr id="17" name="Text 15"/>
          <p:cNvSpPr/>
          <p:nvPr/>
        </p:nvSpPr>
        <p:spPr>
          <a:xfrm>
            <a:off x="4416552"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annualised value of that decision quality</a:t>
            </a:r>
            <a:endParaRPr lang="en-US" sz="1150" dirty="0"/>
          </a:p>
        </p:txBody>
      </p:sp>
      <p:sp>
        <p:nvSpPr>
          <p:cNvPr id="18" name="Shape 16"/>
          <p:cNvSpPr/>
          <p:nvPr/>
        </p:nvSpPr>
        <p:spPr>
          <a:xfrm>
            <a:off x="8101584" y="4892040"/>
            <a:ext cx="3538728" cy="1325880"/>
          </a:xfrm>
          <a:prstGeom prst="roundRect">
            <a:avLst>
              <a:gd name="adj" fmla="val 4828"/>
            </a:avLst>
          </a:prstGeom>
          <a:solidFill>
            <a:srgbClr val="121926"/>
          </a:solidFill>
          <a:ln w="9525">
            <a:solidFill>
              <a:srgbClr val="243040"/>
            </a:solidFill>
            <a:prstDash val="solid"/>
          </a:ln>
        </p:spPr>
      </p:sp>
      <p:sp>
        <p:nvSpPr>
          <p:cNvPr id="19" name="Text 17"/>
          <p:cNvSpPr/>
          <p:nvPr/>
        </p:nvSpPr>
        <p:spPr>
          <a:xfrm>
            <a:off x="8193024" y="5029200"/>
            <a:ext cx="3355848" cy="685800"/>
          </a:xfrm>
          <a:prstGeom prst="rect">
            <a:avLst/>
          </a:prstGeom>
          <a:noFill/>
          <a:ln/>
        </p:spPr>
        <p:txBody>
          <a:bodyPr wrap="square" lIns="0" tIns="0" rIns="0" bIns="0" rtlCol="0" anchor="ctr"/>
          <a:lstStyle/>
          <a:p>
            <a:pPr algn="ctr" indent="0" marL="0">
              <a:buNone/>
            </a:pPr>
            <a:r>
              <a:rPr lang="en-US" sz="2600" b="1" dirty="0">
                <a:solidFill>
                  <a:srgbClr val="4B96DC"/>
                </a:solidFill>
                <a:latin typeface="Arial" pitchFamily="34" charset="0"/>
                <a:ea typeface="Arial" pitchFamily="34" charset="-122"/>
                <a:cs typeface="Arial" pitchFamily="34" charset="-120"/>
              </a:rPr>
              <a:t>1,370 kb/d</a:t>
            </a:r>
            <a:endParaRPr lang="en-US" sz="2600" dirty="0"/>
          </a:p>
        </p:txBody>
      </p:sp>
      <p:sp>
        <p:nvSpPr>
          <p:cNvPr id="20" name="Text 18"/>
          <p:cNvSpPr/>
          <p:nvPr/>
        </p:nvSpPr>
        <p:spPr>
          <a:xfrm>
            <a:off x="8193024"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re-sourced across 10 refineries in one solve</a:t>
            </a:r>
            <a:endParaRPr lang="en-US" sz="1150" dirty="0"/>
          </a:p>
        </p:txBody>
      </p:sp>
      <p:sp>
        <p:nvSpPr>
          <p:cNvPr id="21" name="Text 1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Curated stress-demo (15 grades × 7 refineries, public assays) — the wedge REPRODUCES on the real DGCIS model: sulphur-blend breach at Vizag; 220 kb/d un-runnable under sanctions (next slides)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1 · DISRUPTION SIGNAL DETECTION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We saw the June 2025 Hormuz crisis 12 days before the market</a:t>
            </a:r>
            <a:endParaRPr lang="en-US" sz="3100" dirty="0"/>
          </a:p>
        </p:txBody>
      </p:sp>
      <p:pic>
        <p:nvPicPr>
          <p:cNvPr id="4" name="Image 0" descr="assets/signal_chart.png">    </p:cNvPr>
          <p:cNvPicPr>
            <a:picLocks noChangeAspect="1"/>
          </p:cNvPicPr>
          <p:nvPr/>
        </p:nvPicPr>
        <p:blipFill>
          <a:blip r:embed="rId1"/>
          <a:stretch>
            <a:fillRect/>
          </a:stretch>
        </p:blipFill>
        <p:spPr>
          <a:xfrm>
            <a:off x="640080" y="1783080"/>
            <a:ext cx="8595360" cy="3538728"/>
          </a:xfrm>
          <a:prstGeom prst="rect">
            <a:avLst/>
          </a:prstGeom>
        </p:spPr>
      </p:pic>
      <p:sp>
        <p:nvSpPr>
          <p:cNvPr id="5" name="Shape 2"/>
          <p:cNvSpPr/>
          <p:nvPr/>
        </p:nvSpPr>
        <p:spPr>
          <a:xfrm>
            <a:off x="9509760" y="2011680"/>
            <a:ext cx="2130552" cy="3017520"/>
          </a:xfrm>
          <a:prstGeom prst="roundRect">
            <a:avLst>
              <a:gd name="adj" fmla="val 3004"/>
            </a:avLst>
          </a:prstGeom>
          <a:solidFill>
            <a:srgbClr val="10151E"/>
          </a:solidFill>
          <a:ln w="9525">
            <a:solidFill>
              <a:srgbClr val="243040"/>
            </a:solidFill>
            <a:prstDash val="solid"/>
          </a:ln>
        </p:spPr>
      </p:sp>
      <p:sp>
        <p:nvSpPr>
          <p:cNvPr id="6" name="Text 3"/>
          <p:cNvSpPr/>
          <p:nvPr/>
        </p:nvSpPr>
        <p:spPr>
          <a:xfrm>
            <a:off x="9555480" y="2240280"/>
            <a:ext cx="2039112"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12 days</a:t>
            </a:r>
            <a:endParaRPr lang="en-US" sz="3000" dirty="0"/>
          </a:p>
        </p:txBody>
      </p:sp>
      <p:sp>
        <p:nvSpPr>
          <p:cNvPr id="7" name="Text 4"/>
          <p:cNvSpPr/>
          <p:nvPr/>
        </p:nvSpPr>
        <p:spPr>
          <a:xfrm>
            <a:off x="9555480" y="289864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alert lead over the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Brent +8% session</a:t>
            </a:r>
            <a:endParaRPr lang="en-US" sz="1150" dirty="0"/>
          </a:p>
        </p:txBody>
      </p:sp>
      <p:sp>
        <p:nvSpPr>
          <p:cNvPr id="8" name="Text 5"/>
          <p:cNvSpPr/>
          <p:nvPr/>
        </p:nvSpPr>
        <p:spPr>
          <a:xfrm>
            <a:off x="9555480" y="3520440"/>
            <a:ext cx="2039112" cy="685800"/>
          </a:xfrm>
          <a:prstGeom prst="rect">
            <a:avLst/>
          </a:prstGeom>
          <a:noFill/>
          <a:ln/>
        </p:spPr>
        <p:txBody>
          <a:bodyPr wrap="square" lIns="0" tIns="0" rIns="0" bIns="0" rtlCol="0" anchor="ctr"/>
          <a:lstStyle/>
          <a:p>
            <a:pPr algn="ctr" indent="0" marL="0">
              <a:buNone/>
            </a:pPr>
            <a:r>
              <a:rPr lang="en-US" sz="3000" b="1" dirty="0">
                <a:solidFill>
                  <a:srgbClr val="F2A623"/>
                </a:solidFill>
                <a:latin typeface="Arial" pitchFamily="34" charset="0"/>
                <a:ea typeface="Arial" pitchFamily="34" charset="-122"/>
                <a:cs typeface="Arial" pitchFamily="34" charset="-120"/>
              </a:rPr>
              <a:t>200×</a:t>
            </a:r>
            <a:endParaRPr lang="en-US" sz="3000" dirty="0"/>
          </a:p>
        </p:txBody>
      </p:sp>
      <p:sp>
        <p:nvSpPr>
          <p:cNvPr id="9" name="Text 6"/>
          <p:cNvSpPr/>
          <p:nvPr/>
        </p:nvSpPr>
        <p:spPr>
          <a:xfrm>
            <a:off x="9555480" y="417880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peak news coverage vs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quiet baseline (real GDELT)</a:t>
            </a:r>
            <a:endParaRPr lang="en-US" sz="1150" dirty="0"/>
          </a:p>
        </p:txBody>
      </p:sp>
      <p:sp>
        <p:nvSpPr>
          <p:cNvPr id="10" name="Text 7"/>
          <p:cNvSpPr/>
          <p:nvPr/>
        </p:nvSpPr>
        <p:spPr>
          <a:xfrm>
            <a:off x="640080" y="5486400"/>
            <a:ext cx="10972800" cy="68580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Method: 10-day rolling baseline → alert when coverage sustains ≥3× baseline for 2 days. Simple, explainable, testable — and fused with live AIS tanker traffic (congestion flags at chokepoints) for multi-source confirmation.</a:t>
            </a:r>
            <a:endParaRPr lang="en-US" sz="1250" dirty="0"/>
          </a:p>
        </p:txBody>
      </p:sp>
      <p:sp>
        <p:nvSpPr>
          <p:cNvPr id="11" name="Text 8"/>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Real GDELT DOC 2.0 coverage-volume series, cached 1–14 June 2025 · backtest vs 23 June Brent session · aisstream.io live vessel feed (Malacca verified live)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3 · SCENARIO MODEL FIDELITY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glass-box cascade — ending in the deficit India cannot pay</a:t>
            </a:r>
            <a:endParaRPr lang="en-US" sz="3100" dirty="0"/>
          </a:p>
        </p:txBody>
      </p:sp>
      <p:pic>
        <p:nvPicPr>
          <p:cNvPr id="4" name="Image 0" descr="assets/cascade_chart.png">    </p:cNvPr>
          <p:cNvPicPr>
            <a:picLocks noChangeAspect="1"/>
          </p:cNvPicPr>
          <p:nvPr/>
        </p:nvPicPr>
        <p:blipFill>
          <a:blip r:embed="rId1"/>
          <a:stretch>
            <a:fillRect/>
          </a:stretch>
        </p:blipFill>
        <p:spPr>
          <a:xfrm>
            <a:off x="594360" y="1828800"/>
            <a:ext cx="7818120" cy="3346704"/>
          </a:xfrm>
          <a:prstGeom prst="rect">
            <a:avLst/>
          </a:prstGeom>
        </p:spPr>
      </p:pic>
      <p:sp>
        <p:nvSpPr>
          <p:cNvPr id="5" name="Shape 2"/>
          <p:cNvSpPr/>
          <p:nvPr/>
        </p:nvSpPr>
        <p:spPr>
          <a:xfrm>
            <a:off x="8732520" y="1783080"/>
            <a:ext cx="2907792" cy="960120"/>
          </a:xfrm>
          <a:prstGeom prst="roundRect">
            <a:avLst>
              <a:gd name="adj" fmla="val 6667"/>
            </a:avLst>
          </a:prstGeom>
          <a:solidFill>
            <a:srgbClr val="10151E"/>
          </a:solidFill>
          <a:ln w="9525">
            <a:solidFill>
              <a:srgbClr val="243040"/>
            </a:solidFill>
            <a:prstDash val="solid"/>
          </a:ln>
        </p:spPr>
      </p:sp>
      <p:sp>
        <p:nvSpPr>
          <p:cNvPr id="6" name="Text 3"/>
          <p:cNvSpPr/>
          <p:nvPr/>
        </p:nvSpPr>
        <p:spPr>
          <a:xfrm>
            <a:off x="8823960" y="1874520"/>
            <a:ext cx="2724912" cy="411480"/>
          </a:xfrm>
          <a:prstGeom prst="rect">
            <a:avLst/>
          </a:prstGeom>
          <a:noFill/>
          <a:ln/>
        </p:spPr>
        <p:txBody>
          <a:bodyPr wrap="square" lIns="0" tIns="0" rIns="0" bIns="0" rtlCol="0" anchor="ctr"/>
          <a:lstStyle/>
          <a:p>
            <a:pPr algn="ctr" indent="0" marL="0">
              <a:buNone/>
            </a:pPr>
            <a:r>
              <a:rPr lang="en-US" sz="2000" b="1" dirty="0">
                <a:solidFill>
                  <a:srgbClr val="F2A623"/>
                </a:solidFill>
                <a:latin typeface="Arial" pitchFamily="34" charset="0"/>
                <a:ea typeface="Arial" pitchFamily="34" charset="-122"/>
                <a:cs typeface="Arial" pitchFamily="34" charset="-120"/>
              </a:rPr>
              <a:t>₹125.5/L</a:t>
            </a:r>
            <a:endParaRPr lang="en-US" sz="2000" dirty="0"/>
          </a:p>
        </p:txBody>
      </p:sp>
      <p:sp>
        <p:nvSpPr>
          <p:cNvPr id="7" name="Text 4"/>
          <p:cNvSpPr/>
          <p:nvPr/>
        </p:nvSpPr>
        <p:spPr>
          <a:xfrm>
            <a:off x="8823960" y="2286000"/>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retail fuel at full closure (+₹25.5)</a:t>
            </a:r>
            <a:endParaRPr lang="en-US" sz="1050" dirty="0"/>
          </a:p>
        </p:txBody>
      </p:sp>
      <p:sp>
        <p:nvSpPr>
          <p:cNvPr id="8" name="Shape 5"/>
          <p:cNvSpPr/>
          <p:nvPr/>
        </p:nvSpPr>
        <p:spPr>
          <a:xfrm>
            <a:off x="8732520" y="2862072"/>
            <a:ext cx="2907792" cy="960120"/>
          </a:xfrm>
          <a:prstGeom prst="roundRect">
            <a:avLst>
              <a:gd name="adj" fmla="val 6667"/>
            </a:avLst>
          </a:prstGeom>
          <a:solidFill>
            <a:srgbClr val="10151E"/>
          </a:solidFill>
          <a:ln w="9525">
            <a:solidFill>
              <a:srgbClr val="243040"/>
            </a:solidFill>
            <a:prstDash val="solid"/>
          </a:ln>
        </p:spPr>
      </p:sp>
      <p:sp>
        <p:nvSpPr>
          <p:cNvPr id="9" name="Text 6"/>
          <p:cNvSpPr/>
          <p:nvPr/>
        </p:nvSpPr>
        <p:spPr>
          <a:xfrm>
            <a:off x="8823960" y="2953512"/>
            <a:ext cx="2724912" cy="411480"/>
          </a:xfrm>
          <a:prstGeom prst="rect">
            <a:avLst/>
          </a:prstGeom>
          <a:noFill/>
          <a:ln/>
        </p:spPr>
        <p:txBody>
          <a:bodyPr wrap="square" lIns="0" tIns="0" rIns="0" bIns="0" rtlCol="0" anchor="ctr"/>
          <a:lstStyle/>
          <a:p>
            <a:pPr algn="ctr" indent="0" marL="0">
              <a:buNone/>
            </a:pPr>
            <a:r>
              <a:rPr lang="en-US" sz="2000" b="1" dirty="0">
                <a:solidFill>
                  <a:srgbClr val="4B96DC"/>
                </a:solidFill>
                <a:latin typeface="Arial" pitchFamily="34" charset="0"/>
                <a:ea typeface="Arial" pitchFamily="34" charset="-122"/>
                <a:cs typeface="Arial" pitchFamily="34" charset="-120"/>
              </a:rPr>
              <a:t>−1.4 pp</a:t>
            </a:r>
            <a:endParaRPr lang="en-US" sz="2000" dirty="0"/>
          </a:p>
        </p:txBody>
      </p:sp>
      <p:sp>
        <p:nvSpPr>
          <p:cNvPr id="10" name="Text 7"/>
          <p:cNvSpPr/>
          <p:nvPr/>
        </p:nvSpPr>
        <p:spPr>
          <a:xfrm>
            <a:off x="8823960" y="3364992"/>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GDP drag · +2.0 pp CPI</a:t>
            </a:r>
            <a:endParaRPr lang="en-US" sz="1050" dirty="0"/>
          </a:p>
        </p:txBody>
      </p:sp>
      <p:sp>
        <p:nvSpPr>
          <p:cNvPr id="11" name="Shape 8"/>
          <p:cNvSpPr/>
          <p:nvPr/>
        </p:nvSpPr>
        <p:spPr>
          <a:xfrm>
            <a:off x="8732520" y="3941064"/>
            <a:ext cx="2907792" cy="960120"/>
          </a:xfrm>
          <a:prstGeom prst="roundRect">
            <a:avLst>
              <a:gd name="adj" fmla="val 6667"/>
            </a:avLst>
          </a:prstGeom>
          <a:solidFill>
            <a:srgbClr val="10151E"/>
          </a:solidFill>
          <a:ln w="9525">
            <a:solidFill>
              <a:srgbClr val="243040"/>
            </a:solidFill>
            <a:prstDash val="solid"/>
          </a:ln>
        </p:spPr>
      </p:sp>
      <p:sp>
        <p:nvSpPr>
          <p:cNvPr id="12" name="Text 9"/>
          <p:cNvSpPr/>
          <p:nvPr/>
        </p:nvSpPr>
        <p:spPr>
          <a:xfrm>
            <a:off x="8823960" y="4032504"/>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$191 bn/yr</a:t>
            </a:r>
            <a:endParaRPr lang="en-US" sz="2000" dirty="0"/>
          </a:p>
        </p:txBody>
      </p:sp>
      <p:sp>
        <p:nvSpPr>
          <p:cNvPr id="13" name="Text 10"/>
          <p:cNvSpPr/>
          <p:nvPr/>
        </p:nvSpPr>
        <p:spPr>
          <a:xfrm>
            <a:off x="8823960" y="4443984"/>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extra import bill in USD</a:t>
            </a:r>
            <a:endParaRPr lang="en-US" sz="1050" dirty="0"/>
          </a:p>
        </p:txBody>
      </p:sp>
      <p:sp>
        <p:nvSpPr>
          <p:cNvPr id="14" name="Shape 11"/>
          <p:cNvSpPr/>
          <p:nvPr/>
        </p:nvSpPr>
        <p:spPr>
          <a:xfrm>
            <a:off x="8732520" y="5020056"/>
            <a:ext cx="2907792" cy="960120"/>
          </a:xfrm>
          <a:prstGeom prst="roundRect">
            <a:avLst>
              <a:gd name="adj" fmla="val 6667"/>
            </a:avLst>
          </a:prstGeom>
          <a:solidFill>
            <a:srgbClr val="10151E"/>
          </a:solidFill>
          <a:ln w="9525">
            <a:solidFill>
              <a:srgbClr val="243040"/>
            </a:solidFill>
            <a:prstDash val="solid"/>
          </a:ln>
        </p:spPr>
      </p:sp>
      <p:sp>
        <p:nvSpPr>
          <p:cNvPr id="15" name="Text 12"/>
          <p:cNvSpPr/>
          <p:nvPr/>
        </p:nvSpPr>
        <p:spPr>
          <a:xfrm>
            <a:off x="8823960" y="5111496"/>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1.2% → 6.1%</a:t>
            </a:r>
            <a:endParaRPr lang="en-US" sz="2000" dirty="0"/>
          </a:p>
        </p:txBody>
      </p:sp>
      <p:sp>
        <p:nvSpPr>
          <p:cNvPr id="16" name="Text 13"/>
          <p:cNvSpPr/>
          <p:nvPr/>
        </p:nvSpPr>
        <p:spPr>
          <a:xfrm>
            <a:off x="8823960" y="5522976"/>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current-account deficit, % of GDP</a:t>
            </a:r>
            <a:endParaRPr lang="en-US" sz="1050" dirty="0"/>
          </a:p>
        </p:txBody>
      </p:sp>
      <p:sp>
        <p:nvSpPr>
          <p:cNvPr id="17" name="Text 14"/>
          <p:cNvSpPr/>
          <p:nvPr/>
        </p:nvSpPr>
        <p:spPr>
          <a:xfrm>
            <a:off x="594360" y="5486400"/>
            <a:ext cx="7863840" cy="73152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Every parameter is named, sourced and editable; sensitivity is one function call. “The binding constraint is the balance of payments, not the barrels” — the twin-deficit reframe came from our review with ORF.</a:t>
            </a:r>
            <a:endParaRPr lang="en-US" sz="1250" dirty="0"/>
          </a:p>
        </p:txBody>
      </p:sp>
      <p:sp>
        <p:nvSpPr>
          <p:cNvPr id="18" name="Text 15"/>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Cascade: closure → net shortfall (after Saudi/UAE pipeline bypass) → Brent → import bill → pump price → CPI/GDP → CAD · reviewed with Lydia Powell, ORF</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BEYOND ONE SCENARIO</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Block any chokepoint. Sanction any supplier. Model it.</a:t>
            </a:r>
            <a:endParaRPr lang="en-US" sz="3100" dirty="0"/>
          </a:p>
        </p:txBody>
      </p:sp>
      <p:sp>
        <p:nvSpPr>
          <p:cNvPr id="4" name="Shape 2"/>
          <p:cNvSpPr/>
          <p:nvPr/>
        </p:nvSpPr>
        <p:spPr>
          <a:xfrm>
            <a:off x="548640" y="1737360"/>
            <a:ext cx="11091672" cy="987552"/>
          </a:xfrm>
          <a:prstGeom prst="roundRect">
            <a:avLst>
              <a:gd name="adj" fmla="val 6481"/>
            </a:avLst>
          </a:prstGeom>
          <a:solidFill>
            <a:srgbClr val="121926"/>
          </a:solidFill>
          <a:ln w="9525">
            <a:solidFill>
              <a:srgbClr val="243040"/>
            </a:solidFill>
            <a:prstDash val="solid"/>
          </a:ln>
        </p:spPr>
      </p:sp>
      <p:sp>
        <p:nvSpPr>
          <p:cNvPr id="5" name="Shape 3"/>
          <p:cNvSpPr/>
          <p:nvPr/>
        </p:nvSpPr>
        <p:spPr>
          <a:xfrm>
            <a:off x="548640" y="1737360"/>
            <a:ext cx="109728" cy="987552"/>
          </a:xfrm>
          <a:prstGeom prst="rect">
            <a:avLst/>
          </a:prstGeom>
          <a:solidFill>
            <a:srgbClr val="5DCAA5"/>
          </a:solidFill>
          <a:ln/>
        </p:spPr>
      </p:sp>
      <p:sp>
        <p:nvSpPr>
          <p:cNvPr id="6" name="Text 4"/>
          <p:cNvSpPr/>
          <p:nvPr/>
        </p:nvSpPr>
        <p:spPr>
          <a:xfrm>
            <a:off x="868680" y="1847088"/>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full closure</a:t>
            </a:r>
            <a:endParaRPr lang="en-US" sz="1500" dirty="0"/>
          </a:p>
        </p:txBody>
      </p:sp>
      <p:sp>
        <p:nvSpPr>
          <p:cNvPr id="7" name="Text 5"/>
          <p:cNvSpPr/>
          <p:nvPr/>
        </p:nvSpPr>
        <p:spPr>
          <a:xfrm>
            <a:off x="4297680" y="1847088"/>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INFEASIBLE — blend breaches Vizag’s sulphur limit</a:t>
            </a:r>
            <a:endParaRPr lang="en-US" sz="1200" dirty="0"/>
          </a:p>
        </p:txBody>
      </p:sp>
      <p:sp>
        <p:nvSpPr>
          <p:cNvPr id="8" name="Text 6"/>
          <p:cNvSpPr/>
          <p:nvPr/>
        </p:nvSpPr>
        <p:spPr>
          <a:xfrm>
            <a:off x="8001000" y="1847088"/>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KARNADHAR: FEASIBLE — and priced: the reroute ties up +66 VLCC-equivalents (ton-mile)</a:t>
            </a:r>
            <a:endParaRPr lang="en-US" sz="1200" dirty="0"/>
          </a:p>
        </p:txBody>
      </p:sp>
      <p:sp>
        <p:nvSpPr>
          <p:cNvPr id="9" name="Shape 7"/>
          <p:cNvSpPr/>
          <p:nvPr/>
        </p:nvSpPr>
        <p:spPr>
          <a:xfrm>
            <a:off x="548640" y="2852928"/>
            <a:ext cx="11091672" cy="987552"/>
          </a:xfrm>
          <a:prstGeom prst="roundRect">
            <a:avLst>
              <a:gd name="adj" fmla="val 6481"/>
            </a:avLst>
          </a:prstGeom>
          <a:solidFill>
            <a:srgbClr val="121926"/>
          </a:solidFill>
          <a:ln w="9525">
            <a:solidFill>
              <a:srgbClr val="243040"/>
            </a:solidFill>
            <a:prstDash val="solid"/>
          </a:ln>
        </p:spPr>
      </p:sp>
      <p:sp>
        <p:nvSpPr>
          <p:cNvPr id="10" name="Shape 8"/>
          <p:cNvSpPr/>
          <p:nvPr/>
        </p:nvSpPr>
        <p:spPr>
          <a:xfrm>
            <a:off x="548640" y="2852928"/>
            <a:ext cx="109728" cy="987552"/>
          </a:xfrm>
          <a:prstGeom prst="rect">
            <a:avLst/>
          </a:prstGeom>
          <a:solidFill>
            <a:srgbClr val="F2A623"/>
          </a:solidFill>
          <a:ln/>
        </p:spPr>
      </p:sp>
      <p:sp>
        <p:nvSpPr>
          <p:cNvPr id="11" name="Text 9"/>
          <p:cNvSpPr/>
          <p:nvPr/>
        </p:nvSpPr>
        <p:spPr>
          <a:xfrm>
            <a:off x="868680" y="2962656"/>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OPEC+ squeeze</a:t>
            </a:r>
            <a:endParaRPr lang="en-US" sz="1500" dirty="0"/>
          </a:p>
        </p:txBody>
      </p:sp>
      <p:sp>
        <p:nvSpPr>
          <p:cNvPr id="12" name="Text 10"/>
          <p:cNvSpPr/>
          <p:nvPr/>
        </p:nvSpPr>
        <p:spPr>
          <a:xfrm>
            <a:off x="4297680" y="2962656"/>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alternate suppliers squeezed to 60% of headroom</a:t>
            </a:r>
            <a:endParaRPr lang="en-US" sz="1200" dirty="0"/>
          </a:p>
        </p:txBody>
      </p:sp>
      <p:sp>
        <p:nvSpPr>
          <p:cNvPr id="13" name="Text 11"/>
          <p:cNvSpPr/>
          <p:nvPr/>
        </p:nvSpPr>
        <p:spPr>
          <a:xfrm>
            <a:off x="8001000" y="2962656"/>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still feasible — grade-matching value rises to $1.95M/day of protected yield</a:t>
            </a:r>
            <a:endParaRPr lang="en-US" sz="1200" dirty="0"/>
          </a:p>
        </p:txBody>
      </p:sp>
      <p:sp>
        <p:nvSpPr>
          <p:cNvPr id="14" name="Shape 12"/>
          <p:cNvSpPr/>
          <p:nvPr/>
        </p:nvSpPr>
        <p:spPr>
          <a:xfrm>
            <a:off x="548640" y="3968496"/>
            <a:ext cx="11091672" cy="987552"/>
          </a:xfrm>
          <a:prstGeom prst="roundRect">
            <a:avLst>
              <a:gd name="adj" fmla="val 6481"/>
            </a:avLst>
          </a:prstGeom>
          <a:solidFill>
            <a:srgbClr val="121926"/>
          </a:solidFill>
          <a:ln w="9525">
            <a:solidFill>
              <a:srgbClr val="243040"/>
            </a:solidFill>
            <a:prstDash val="solid"/>
          </a:ln>
        </p:spPr>
      </p:sp>
      <p:sp>
        <p:nvSpPr>
          <p:cNvPr id="15" name="Shape 13"/>
          <p:cNvSpPr/>
          <p:nvPr/>
        </p:nvSpPr>
        <p:spPr>
          <a:xfrm>
            <a:off x="548640" y="3968496"/>
            <a:ext cx="109728" cy="987552"/>
          </a:xfrm>
          <a:prstGeom prst="rect">
            <a:avLst/>
          </a:prstGeom>
          <a:solidFill>
            <a:srgbClr val="4B96DC"/>
          </a:solidFill>
          <a:ln/>
        </p:spPr>
      </p:sp>
      <p:sp>
        <p:nvSpPr>
          <p:cNvPr id="16" name="Text 14"/>
          <p:cNvSpPr/>
          <p:nvPr/>
        </p:nvSpPr>
        <p:spPr>
          <a:xfrm>
            <a:off x="868680" y="4078224"/>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Russia sanctioned</a:t>
            </a:r>
            <a:endParaRPr lang="en-US" sz="1500" dirty="0"/>
          </a:p>
        </p:txBody>
      </p:sp>
      <p:sp>
        <p:nvSpPr>
          <p:cNvPr id="17" name="Text 15"/>
          <p:cNvSpPr/>
          <p:nvPr/>
        </p:nvSpPr>
        <p:spPr>
          <a:xfrm>
            <a:off x="4297680" y="4078224"/>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sends 220 kb/d to refineries that cannot run it</a:t>
            </a:r>
            <a:endParaRPr lang="en-US" sz="1200" dirty="0"/>
          </a:p>
        </p:txBody>
      </p:sp>
      <p:sp>
        <p:nvSpPr>
          <p:cNvPr id="18" name="Text 16"/>
          <p:cNvSpPr/>
          <p:nvPr/>
        </p:nvSpPr>
        <p:spPr>
          <a:xfrm>
            <a:off x="8001000" y="4078224"/>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usable shortfall 220 → 0 — India’s #1 supplier is replaceable, at a price</a:t>
            </a:r>
            <a:endParaRPr lang="en-US" sz="1200" dirty="0"/>
          </a:p>
        </p:txBody>
      </p:sp>
      <p:sp>
        <p:nvSpPr>
          <p:cNvPr id="19" name="Shape 17"/>
          <p:cNvSpPr/>
          <p:nvPr/>
        </p:nvSpPr>
        <p:spPr>
          <a:xfrm>
            <a:off x="548640" y="5084064"/>
            <a:ext cx="11091672" cy="987552"/>
          </a:xfrm>
          <a:prstGeom prst="roundRect">
            <a:avLst>
              <a:gd name="adj" fmla="val 6481"/>
            </a:avLst>
          </a:prstGeom>
          <a:solidFill>
            <a:srgbClr val="121926"/>
          </a:solidFill>
          <a:ln w="9525">
            <a:solidFill>
              <a:srgbClr val="243040"/>
            </a:solidFill>
            <a:prstDash val="solid"/>
          </a:ln>
        </p:spPr>
      </p:sp>
      <p:sp>
        <p:nvSpPr>
          <p:cNvPr id="20" name="Shape 18"/>
          <p:cNvSpPr/>
          <p:nvPr/>
        </p:nvSpPr>
        <p:spPr>
          <a:xfrm>
            <a:off x="548640" y="5084064"/>
            <a:ext cx="109728" cy="987552"/>
          </a:xfrm>
          <a:prstGeom prst="rect">
            <a:avLst/>
          </a:prstGeom>
          <a:solidFill>
            <a:srgbClr val="E85A58"/>
          </a:solidFill>
          <a:ln/>
        </p:spPr>
      </p:sp>
      <p:sp>
        <p:nvSpPr>
          <p:cNvPr id="21" name="Text 19"/>
          <p:cNvSpPr/>
          <p:nvPr/>
        </p:nvSpPr>
        <p:spPr>
          <a:xfrm>
            <a:off x="868680" y="5193792"/>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Russia (compound)</a:t>
            </a:r>
            <a:endParaRPr lang="en-US" sz="1500" dirty="0"/>
          </a:p>
        </p:txBody>
      </p:sp>
      <p:sp>
        <p:nvSpPr>
          <p:cNvPr id="22" name="Text 20"/>
          <p:cNvSpPr/>
          <p:nvPr/>
        </p:nvSpPr>
        <p:spPr>
          <a:xfrm>
            <a:off x="4297680" y="5193792"/>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the nightmare: 3,900 kb/d gap, 2 of top 3 suppliers gone</a:t>
            </a:r>
            <a:endParaRPr lang="en-US" sz="1200" dirty="0"/>
          </a:p>
        </p:txBody>
      </p:sp>
      <p:sp>
        <p:nvSpPr>
          <p:cNvPr id="23" name="Text 21"/>
          <p:cNvSpPr/>
          <p:nvPr/>
        </p:nvSpPr>
        <p:spPr>
          <a:xfrm>
            <a:off x="8001000" y="5193792"/>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honest: 2,166 kb/d unmet, quantified — naive pretends, with 546 kb/d of fake fill</a:t>
            </a:r>
            <a:endParaRPr lang="en-US" sz="1200" dirty="0"/>
          </a:p>
        </p:txBody>
      </p:sp>
      <p:sp>
        <p:nvSpPr>
          <p:cNvPr id="24" name="Text 22"/>
          <p:cNvSpPr/>
          <p:nvPr/>
        </p:nvSpPr>
        <p:spPr>
          <a:xfrm>
            <a:off x="548640" y="6217920"/>
            <a:ext cx="11064240" cy="548640"/>
          </a:xfrm>
          <a:prstGeom prst="rect">
            <a:avLst/>
          </a:prstGeom>
          <a:noFill/>
          <a:ln/>
        </p:spPr>
        <p:txBody>
          <a:bodyPr wrap="square" lIns="0" tIns="0" rIns="0" bIns="0" rtlCol="0" anchor="ctr"/>
          <a:lstStyle/>
          <a:p>
            <a:pPr indent="0" marL="0">
              <a:lnSpc>
                <a:spcPts val="1500"/>
              </a:lnSpc>
              <a:buNone/>
            </a:pPr>
            <a:r>
              <a:rPr lang="en-US" sz="1200" i="1" dirty="0">
                <a:solidFill>
                  <a:srgbClr val="5DCAA5"/>
                </a:solidFill>
                <a:latin typeface="Arial" pitchFamily="34" charset="0"/>
                <a:ea typeface="Arial" pitchFamily="34" charset="-122"/>
                <a:cs typeface="Arial" pitchFamily="34" charset="-120"/>
              </a:rPr>
              <a:t>Also modelled: the brief’s Red Sea suspension — India’s crude barely moves (Cape-routed), but the commodity lens shows who is hit: Black-Sea edible oils (18%). And when a shock is too severe to reroute around, KARNADHAR quantifies the gap — the SPR scheduler answers hold / bridge / ration with a drawdown rate.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4 · GEOSPATIAL INTELLIGENCE</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war-room: India’s energy lifeline, live on one screen</a:t>
            </a:r>
            <a:endParaRPr lang="en-US" sz="3100" dirty="0"/>
          </a:p>
        </p:txBody>
      </p:sp>
      <p:pic>
        <p:nvPicPr>
          <p:cNvPr id="4" name="Image 0" descr="captures/globe_view.jpg">    </p:cNvPr>
          <p:cNvPicPr>
            <a:picLocks noChangeAspect="1"/>
          </p:cNvPicPr>
          <p:nvPr/>
        </p:nvPicPr>
        <p:blipFill>
          <a:blip r:embed="rId1"/>
          <a:stretch>
            <a:fillRect/>
          </a:stretch>
        </p:blipFill>
        <p:spPr>
          <a:xfrm>
            <a:off x="548640" y="1737360"/>
            <a:ext cx="5769864" cy="4572000"/>
          </a:xfrm>
          <a:prstGeom prst="rect">
            <a:avLst/>
          </a:prstGeom>
        </p:spPr>
      </p:pic>
      <p:sp>
        <p:nvSpPr>
          <p:cNvPr id="5" name="Shape 2"/>
          <p:cNvSpPr/>
          <p:nvPr/>
        </p:nvSpPr>
        <p:spPr>
          <a:xfrm>
            <a:off x="548640" y="1737360"/>
            <a:ext cx="5769864" cy="4572000"/>
          </a:xfrm>
          <a:prstGeom prst="rect">
            <a:avLst/>
          </a:prstGeom>
          <a:ln w="12700">
            <a:solidFill>
              <a:srgbClr val="243040"/>
            </a:solidFill>
            <a:prstDash val="solid"/>
          </a:ln>
        </p:spPr>
      </p:sp>
      <p:sp>
        <p:nvSpPr>
          <p:cNvPr id="6" name="Shape 3"/>
          <p:cNvSpPr/>
          <p:nvPr/>
        </p:nvSpPr>
        <p:spPr>
          <a:xfrm>
            <a:off x="6629400" y="1819656"/>
            <a:ext cx="182880" cy="182880"/>
          </a:xfrm>
          <a:prstGeom prst="ellipse">
            <a:avLst/>
          </a:prstGeom>
          <a:solidFill>
            <a:srgbClr val="4B96DC"/>
          </a:solidFill>
          <a:ln/>
        </p:spPr>
      </p:sp>
      <p:sp>
        <p:nvSpPr>
          <p:cNvPr id="7" name="Text 4"/>
          <p:cNvSpPr/>
          <p:nvPr/>
        </p:nvSpPr>
        <p:spPr>
          <a:xfrm>
            <a:off x="6931152" y="17830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Optimizer flows — the plan, drawn
</a:t>
            </a:r>
            <a:pPr indent="0" marL="0">
              <a:lnSpc>
                <a:spcPts val="1500"/>
              </a:lnSpc>
              <a:buNone/>
            </a:pPr>
            <a:r>
              <a:rPr lang="en-US" sz="1150" dirty="0">
                <a:solidFill>
                  <a:srgbClr val="93A0B0"/>
                </a:solidFill>
                <a:latin typeface="Arial" pitchFamily="34" charset="0"/>
                <a:ea typeface="Arial" pitchFamily="34" charset="-122"/>
                <a:cs typeface="Arial" pitchFamily="34" charset="-120"/>
              </a:rPr>
              <a:t>every LP allocation becomes an animated flow: source → corridor → the exact refinery, width = kb/d</a:t>
            </a:r>
            <a:endParaRPr lang="en-US" sz="1350" dirty="0"/>
          </a:p>
        </p:txBody>
      </p:sp>
      <p:sp>
        <p:nvSpPr>
          <p:cNvPr id="8" name="Shape 5"/>
          <p:cNvSpPr/>
          <p:nvPr/>
        </p:nvSpPr>
        <p:spPr>
          <a:xfrm>
            <a:off x="6629400" y="2734056"/>
            <a:ext cx="182880" cy="182880"/>
          </a:xfrm>
          <a:prstGeom prst="ellipse">
            <a:avLst/>
          </a:prstGeom>
          <a:solidFill>
            <a:srgbClr val="5DCAA5"/>
          </a:solidFill>
          <a:ln/>
        </p:spPr>
      </p:sp>
      <p:sp>
        <p:nvSpPr>
          <p:cNvPr id="9" name="Text 6"/>
          <p:cNvSpPr/>
          <p:nvPr/>
        </p:nvSpPr>
        <p:spPr>
          <a:xfrm>
            <a:off x="6931152" y="26974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Live 3D globe / 2D toggle
</a:t>
            </a:r>
            <a:pPr indent="0" marL="0">
              <a:lnSpc>
                <a:spcPts val="1500"/>
              </a:lnSpc>
              <a:buNone/>
            </a:pPr>
            <a:r>
              <a:rPr lang="en-US" sz="1150" dirty="0">
                <a:solidFill>
                  <a:srgbClr val="93A0B0"/>
                </a:solidFill>
                <a:latin typeface="Arial" pitchFamily="34" charset="0"/>
                <a:ea typeface="Arial" pitchFamily="34" charset="-122"/>
                <a:cs typeface="Arial" pitchFamily="34" charset="-120"/>
              </a:rPr>
              <a:t>true globe projection (or flat map), real AIS vessels, bypass pipelines mapped</a:t>
            </a:r>
            <a:endParaRPr lang="en-US" sz="1350" dirty="0"/>
          </a:p>
        </p:txBody>
      </p:sp>
      <p:sp>
        <p:nvSpPr>
          <p:cNvPr id="10" name="Shape 7"/>
          <p:cNvSpPr/>
          <p:nvPr/>
        </p:nvSpPr>
        <p:spPr>
          <a:xfrm>
            <a:off x="6629400" y="3648456"/>
            <a:ext cx="182880" cy="182880"/>
          </a:xfrm>
          <a:prstGeom prst="ellipse">
            <a:avLst/>
          </a:prstGeom>
          <a:solidFill>
            <a:srgbClr val="A78BDB"/>
          </a:solidFill>
          <a:ln/>
        </p:spPr>
      </p:sp>
      <p:sp>
        <p:nvSpPr>
          <p:cNvPr id="11" name="Text 8"/>
          <p:cNvSpPr/>
          <p:nvPr/>
        </p:nvSpPr>
        <p:spPr>
          <a:xfrm>
            <a:off x="6931152" y="36118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Interactive knowledge graph
</a:t>
            </a:r>
            <a:pPr indent="0" marL="0">
              <a:lnSpc>
                <a:spcPts val="1500"/>
              </a:lnSpc>
              <a:buNone/>
            </a:pPr>
            <a:r>
              <a:rPr lang="en-US" sz="1150" dirty="0">
                <a:solidFill>
                  <a:srgbClr val="93A0B0"/>
                </a:solidFill>
                <a:latin typeface="Arial" pitchFamily="34" charset="0"/>
                <a:ea typeface="Arial" pitchFamily="34" charset="-122"/>
                <a:cs typeface="Arial" pitchFamily="34" charset="-120"/>
              </a:rPr>
              <a:t>zoom, pan, drag the 50-node supplier→strait→refinery web; threat edges glow per scenario</a:t>
            </a:r>
            <a:endParaRPr lang="en-US" sz="1350" dirty="0"/>
          </a:p>
        </p:txBody>
      </p:sp>
      <p:sp>
        <p:nvSpPr>
          <p:cNvPr id="12" name="Shape 9"/>
          <p:cNvSpPr/>
          <p:nvPr/>
        </p:nvSpPr>
        <p:spPr>
          <a:xfrm>
            <a:off x="6629400" y="4562856"/>
            <a:ext cx="182880" cy="182880"/>
          </a:xfrm>
          <a:prstGeom prst="ellipse">
            <a:avLst/>
          </a:prstGeom>
          <a:solidFill>
            <a:srgbClr val="F2A623"/>
          </a:solidFill>
          <a:ln/>
        </p:spPr>
      </p:sp>
      <p:sp>
        <p:nvSpPr>
          <p:cNvPr id="13" name="Text 10"/>
          <p:cNvSpPr/>
          <p:nvPr/>
        </p:nvSpPr>
        <p:spPr>
          <a:xfrm>
            <a:off x="6931152" y="45262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Multi-commodity lens
</a:t>
            </a:r>
            <a:pPr indent="0" marL="0">
              <a:lnSpc>
                <a:spcPts val="1500"/>
              </a:lnSpc>
              <a:buNone/>
            </a:pPr>
            <a:r>
              <a:rPr lang="en-US" sz="1150" dirty="0">
                <a:solidFill>
                  <a:srgbClr val="93A0B0"/>
                </a:solidFill>
                <a:latin typeface="Arial" pitchFamily="34" charset="0"/>
                <a:ea typeface="Arial" pitchFamily="34" charset="-122"/>
                <a:cs typeface="Arial" pitchFamily="34" charset="-120"/>
              </a:rPr>
              <a:t>same disruption scored across 8 strategic imports — Hormuz hits 53% of LNG too</a:t>
            </a:r>
            <a:endParaRPr lang="en-US" sz="1350" dirty="0"/>
          </a:p>
        </p:txBody>
      </p:sp>
      <p:sp>
        <p:nvSpPr>
          <p:cNvPr id="14" name="Shape 11"/>
          <p:cNvSpPr/>
          <p:nvPr/>
        </p:nvSpPr>
        <p:spPr>
          <a:xfrm>
            <a:off x="6629400" y="5477256"/>
            <a:ext cx="182880" cy="182880"/>
          </a:xfrm>
          <a:prstGeom prst="ellipse">
            <a:avLst/>
          </a:prstGeom>
          <a:solidFill>
            <a:srgbClr val="5DCAA5"/>
          </a:solidFill>
          <a:ln/>
        </p:spPr>
      </p:sp>
      <p:sp>
        <p:nvSpPr>
          <p:cNvPr id="15" name="Text 12"/>
          <p:cNvSpPr/>
          <p:nvPr/>
        </p:nvSpPr>
        <p:spPr>
          <a:xfrm>
            <a:off x="6931152" y="54406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Decision layer
</a:t>
            </a:r>
            <a:pPr indent="0" marL="0">
              <a:lnSpc>
                <a:spcPts val="1500"/>
              </a:lnSpc>
              <a:buNone/>
            </a:pPr>
            <a:r>
              <a:rPr lang="en-US" sz="1150" dirty="0">
                <a:solidFill>
                  <a:srgbClr val="93A0B0"/>
                </a:solidFill>
                <a:latin typeface="Arial" pitchFamily="34" charset="0"/>
                <a:ea typeface="Arial" pitchFamily="34" charset="-122"/>
                <a:cs typeface="Arial" pitchFamily="34" charset="-120"/>
              </a:rPr>
              <a:t>shadow prices, VLCC ton-mile, SPR drawdown schedule + executive brief — on every scenario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WHY YOU CAN TRUST IT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Validated, evaluated, and reviewed by domain experts</a:t>
            </a:r>
            <a:endParaRPr lang="en-US" sz="3100" dirty="0"/>
          </a:p>
        </p:txBody>
      </p:sp>
      <p:sp>
        <p:nvSpPr>
          <p:cNvPr id="4" name="Shape 2"/>
          <p:cNvSpPr/>
          <p:nvPr/>
        </p:nvSpPr>
        <p:spPr>
          <a:xfrm>
            <a:off x="548640" y="1737360"/>
            <a:ext cx="5394960" cy="4206240"/>
          </a:xfrm>
          <a:prstGeom prst="roundRect">
            <a:avLst>
              <a:gd name="adj" fmla="val 1522"/>
            </a:avLst>
          </a:prstGeom>
          <a:solidFill>
            <a:srgbClr val="121926"/>
          </a:solidFill>
          <a:ln w="9525">
            <a:solidFill>
              <a:srgbClr val="243040"/>
            </a:solidFill>
            <a:prstDash val="solid"/>
          </a:ln>
        </p:spPr>
      </p:sp>
      <p:sp>
        <p:nvSpPr>
          <p:cNvPr id="5" name="Text 3"/>
          <p:cNvSpPr/>
          <p:nvPr/>
        </p:nvSpPr>
        <p:spPr>
          <a:xfrm>
            <a:off x="822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AUTOMATED VALIDATION</a:t>
            </a:r>
            <a:endParaRPr lang="en-US" sz="1100" dirty="0"/>
          </a:p>
        </p:txBody>
      </p:sp>
      <p:sp>
        <p:nvSpPr>
          <p:cNvPr id="6" name="Text 4"/>
          <p:cNvSpPr/>
          <p:nvPr/>
        </p:nvSpPr>
        <p:spPr>
          <a:xfrm>
            <a:off x="822960" y="2194560"/>
            <a:ext cx="4846320" cy="73152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50 / 50</a:t>
            </a:r>
            <a:endParaRPr lang="en-US" sz="4400" dirty="0"/>
          </a:p>
        </p:txBody>
      </p:sp>
      <p:sp>
        <p:nvSpPr>
          <p:cNvPr id="7" name="Text 5"/>
          <p:cNvSpPr/>
          <p:nvPr/>
        </p:nvSpPr>
        <p:spPr>
          <a:xfrm>
            <a:off x="822960" y="2926080"/>
            <a:ext cx="4846320" cy="274320"/>
          </a:xfrm>
          <a:prstGeom prst="rect">
            <a:avLst/>
          </a:prstGeom>
          <a:noFill/>
          <a:ln/>
        </p:spPr>
        <p:txBody>
          <a:bodyPr wrap="square" lIns="0" tIns="0" rIns="0" bIns="0" rtlCol="0" anchor="ctr"/>
          <a:lstStyle/>
          <a:p>
            <a:pPr indent="0" marL="0">
              <a:buNone/>
            </a:pPr>
            <a:r>
              <a:rPr lang="en-US" sz="1200" dirty="0">
                <a:solidFill>
                  <a:srgbClr val="93A0B0"/>
                </a:solidFill>
                <a:latin typeface="Arial" pitchFamily="34" charset="0"/>
                <a:ea typeface="Arial" pitchFamily="34" charset="-122"/>
                <a:cs typeface="Arial" pitchFamily="34" charset="-120"/>
              </a:rPr>
              <a:t>checks passed — one command, exit-code gated, run in CI on every push</a:t>
            </a:r>
            <a:endParaRPr lang="en-US" sz="1200" dirty="0"/>
          </a:p>
        </p:txBody>
      </p:sp>
      <p:sp>
        <p:nvSpPr>
          <p:cNvPr id="8" name="Text 6"/>
          <p:cNvSpPr/>
          <p:nvPr/>
        </p:nvSpPr>
        <p:spPr>
          <a:xfrm>
            <a:off x="868680" y="3291840"/>
            <a:ext cx="4892040" cy="246888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wedge holds: naive infeasible for grade reasons, LP optimal</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cascade monotonic; bypass nuance; sensitivity band; twin deficit</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signal alert precedes market repricing on real data</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real-diet integrity: 46% exposure, configs sane</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engine admits unmet demand; SPR scheduler holds/bridges/rations</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decision layer proven: shadow prices · VLCC ton-mile · usable shortfall</a:t>
            </a:r>
            <a:endParaRPr lang="en-US" sz="1250" dirty="0"/>
          </a:p>
          <a:p>
            <a:pPr marL="342900" indent="-342900">
              <a:spcAft>
                <a:spcPts val="800"/>
              </a:spcAft>
              <a:buSzPct val="100000"/>
              <a:buChar char="✓"/>
            </a:pPr>
            <a:r>
              <a:rPr lang="en-US" sz="1250" dirty="0">
                <a:solidFill>
                  <a:srgbClr val="93A0B0"/>
                </a:solidFill>
                <a:latin typeface="Arial" pitchFamily="34" charset="0"/>
                <a:ea typeface="Arial" pitchFamily="34" charset="-122"/>
                <a:cs typeface="Arial" pitchFamily="34" charset="-120"/>
              </a:rPr>
              <a:t>multi-commodity lens generalises — Red Sea spares crude, hits edible oils</a:t>
            </a:r>
            <a:endParaRPr lang="en-US" sz="1250" dirty="0"/>
          </a:p>
        </p:txBody>
      </p:sp>
      <p:sp>
        <p:nvSpPr>
          <p:cNvPr id="9" name="Shape 7"/>
          <p:cNvSpPr/>
          <p:nvPr/>
        </p:nvSpPr>
        <p:spPr>
          <a:xfrm>
            <a:off x="6263640" y="1737360"/>
            <a:ext cx="5394960" cy="2011680"/>
          </a:xfrm>
          <a:prstGeom prst="roundRect">
            <a:avLst>
              <a:gd name="adj" fmla="val 3182"/>
            </a:avLst>
          </a:prstGeom>
          <a:solidFill>
            <a:srgbClr val="121926"/>
          </a:solidFill>
          <a:ln w="9525">
            <a:solidFill>
              <a:srgbClr val="243040"/>
            </a:solidFill>
            <a:prstDash val="solid"/>
          </a:ln>
        </p:spPr>
      </p:sp>
      <p:sp>
        <p:nvSpPr>
          <p:cNvPr id="10" name="Text 8"/>
          <p:cNvSpPr/>
          <p:nvPr/>
        </p:nvSpPr>
        <p:spPr>
          <a:xfrm>
            <a:off x="6537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EVALUATION FOCUS — ALL FIVE, COVERED</a:t>
            </a:r>
            <a:endParaRPr lang="en-US" sz="1100" dirty="0"/>
          </a:p>
        </p:txBody>
      </p:sp>
      <p:sp>
        <p:nvSpPr>
          <p:cNvPr id="11" name="Text 9"/>
          <p:cNvSpPr/>
          <p:nvPr/>
        </p:nvSpPr>
        <p:spPr>
          <a:xfrm>
            <a:off x="6537960" y="2286000"/>
            <a:ext cx="4937760" cy="1371600"/>
          </a:xfrm>
          <a:prstGeom prst="rect">
            <a:avLst/>
          </a:prstGeom>
          <a:noFill/>
          <a:ln/>
        </p:spPr>
        <p:txBody>
          <a:bodyPr wrap="square" lIns="0" tIns="0" rIns="0" bIns="0" rtlCol="0" anchor="ctr"/>
          <a:lstStyle/>
          <a:p>
            <a:pPr indent="0" marL="0">
              <a:spcAft>
                <a:spcPts val="500"/>
              </a:spcAft>
              <a:buNone/>
            </a:pPr>
            <a:r>
              <a:rPr lang="en-US" sz="1150" dirty="0">
                <a:solidFill>
                  <a:srgbClr val="93A0B0"/>
                </a:solidFill>
                <a:latin typeface="Arial" pitchFamily="34" charset="0"/>
                <a:ea typeface="Arial" pitchFamily="34" charset="-122"/>
                <a:cs typeface="Arial" pitchFamily="34" charset="-120"/>
              </a:rPr>
              <a:t>EF-1   signal lead time: 12 days, real GDELT + AIS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EF-2   procurement executability: feasible, grade-matched plans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EF-3   scenario fidelity: explicit, testable, sensitivity-swept</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EF-4   geospatial depth: live routed map, real diets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EF-5   response time: 45 ms signal → recommendation</a:t>
            </a:r>
            <a:endParaRPr lang="en-US" sz="1150" dirty="0"/>
          </a:p>
        </p:txBody>
      </p:sp>
      <p:sp>
        <p:nvSpPr>
          <p:cNvPr id="12" name="Shape 10"/>
          <p:cNvSpPr/>
          <p:nvPr/>
        </p:nvSpPr>
        <p:spPr>
          <a:xfrm>
            <a:off x="6263640" y="3931920"/>
            <a:ext cx="5394960" cy="2011680"/>
          </a:xfrm>
          <a:prstGeom prst="roundRect">
            <a:avLst>
              <a:gd name="adj" fmla="val 3182"/>
            </a:avLst>
          </a:prstGeom>
          <a:solidFill>
            <a:srgbClr val="10151E"/>
          </a:solidFill>
          <a:ln w="9525">
            <a:solidFill>
              <a:srgbClr val="243040"/>
            </a:solidFill>
            <a:prstDash val="solid"/>
          </a:ln>
        </p:spPr>
      </p:sp>
      <p:sp>
        <p:nvSpPr>
          <p:cNvPr id="13" name="Text 11"/>
          <p:cNvSpPr/>
          <p:nvPr/>
        </p:nvSpPr>
        <p:spPr>
          <a:xfrm>
            <a:off x="6537960" y="411480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EXPERT REVIEW</a:t>
            </a:r>
            <a:endParaRPr lang="en-US" sz="1100" dirty="0"/>
          </a:p>
        </p:txBody>
      </p:sp>
      <p:sp>
        <p:nvSpPr>
          <p:cNvPr id="14" name="Text 12"/>
          <p:cNvSpPr/>
          <p:nvPr/>
        </p:nvSpPr>
        <p:spPr>
          <a:xfrm>
            <a:off x="6537960" y="4434840"/>
            <a:ext cx="4937760" cy="1417320"/>
          </a:xfrm>
          <a:prstGeom prst="rect">
            <a:avLst/>
          </a:prstGeom>
          <a:noFill/>
          <a:ln/>
        </p:spPr>
        <p:txBody>
          <a:bodyPr wrap="square" lIns="0" tIns="0" rIns="0" bIns="0" rtlCol="0" anchor="ctr"/>
          <a:lstStyle/>
          <a:p>
            <a:pPr indent="0" marL="0">
              <a:lnSpc>
                <a:spcPts val="1600"/>
              </a:lnSpc>
              <a:buNone/>
            </a:pPr>
            <a:r>
              <a:rPr lang="en-US" sz="1350" b="1" dirty="0">
                <a:solidFill>
                  <a:srgbClr val="E8EDF2"/>
                </a:solidFill>
                <a:latin typeface="Arial" pitchFamily="34" charset="0"/>
                <a:ea typeface="Arial" pitchFamily="34" charset="-122"/>
                <a:cs typeface="Arial" pitchFamily="34" charset="-120"/>
              </a:rPr>
              <a:t>Lydia Powell</a:t>
            </a:r>
            <a:pPr indent="0" marL="0">
              <a:lnSpc>
                <a:spcPts val="1600"/>
              </a:lnSpc>
              <a:buNone/>
            </a:pPr>
            <a:r>
              <a:rPr lang="en-US" sz="1150" dirty="0">
                <a:solidFill>
                  <a:srgbClr val="93A0B0"/>
                </a:solidFill>
                <a:latin typeface="Arial" pitchFamily="34" charset="0"/>
                <a:ea typeface="Arial" pitchFamily="34" charset="-122"/>
                <a:cs typeface="Arial" pitchFamily="34" charset="-120"/>
              </a:rPr>
              <a:t> — Distinguished Fellow, ORF: twin-deficit framing; SPR-as-voluntary-insurance; sourcing-first policy sequence.
</a:t>
            </a:r>
            <a:pPr indent="0" marL="0">
              <a:lnSpc>
                <a:spcPts val="1600"/>
              </a:lnSpc>
              <a:buNone/>
            </a:pPr>
            <a:r>
              <a:rPr lang="en-US" sz="1350" b="1" dirty="0">
                <a:solidFill>
                  <a:srgbClr val="E8EDF2"/>
                </a:solidFill>
                <a:latin typeface="Arial" pitchFamily="34" charset="0"/>
                <a:ea typeface="Arial" pitchFamily="34" charset="-122"/>
                <a:cs typeface="Arial" pitchFamily="34" charset="-120"/>
              </a:rPr>
              <a:t>Prof. U. K. Bhui</a:t>
            </a:r>
            <a:pPr indent="0" marL="0">
              <a:lnSpc>
                <a:spcPts val="1600"/>
              </a:lnSpc>
              <a:buNone/>
            </a:pPr>
            <a:r>
              <a:rPr lang="en-US" sz="1150" dirty="0">
                <a:solidFill>
                  <a:srgbClr val="93A0B0"/>
                </a:solidFill>
                <a:latin typeface="Arial" pitchFamily="34" charset="0"/>
                <a:ea typeface="Arial" pitchFamily="34" charset="-122"/>
                <a:cs typeface="Arial" pitchFamily="34" charset="-120"/>
              </a:rPr>
              <a:t> — Petroleum Engg., PDEU: wedge validated (“you are perfectly right”); SARA/asphaltene dimension added on his guidance.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BUSINESS IMPACT &amp; SCALABILITY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Incumbents tell you what’s happening. We tell you what to do.</a:t>
            </a:r>
            <a:endParaRPr lang="en-US" sz="3100" dirty="0"/>
          </a:p>
        </p:txBody>
      </p:sp>
      <p:sp>
        <p:nvSpPr>
          <p:cNvPr id="4" name="Text 2"/>
          <p:cNvSpPr/>
          <p:nvPr/>
        </p:nvSpPr>
        <p:spPr>
          <a:xfrm>
            <a:off x="548640" y="1600200"/>
            <a:ext cx="11064240" cy="685800"/>
          </a:xfrm>
          <a:prstGeom prst="rect">
            <a:avLst/>
          </a:prstGeom>
          <a:noFill/>
          <a:ln/>
        </p:spPr>
        <p:txBody>
          <a:bodyPr wrap="square" lIns="0" tIns="0" rIns="0" bIns="0" rtlCol="0" anchor="ctr"/>
          <a:lstStyle/>
          <a:p>
            <a:pPr indent="0" marL="0">
              <a:lnSpc>
                <a:spcPts val="2000"/>
              </a:lnSpc>
              <a:buNone/>
            </a:pPr>
            <a:r>
              <a:rPr lang="en-US" sz="1400" dirty="0">
                <a:solidFill>
                  <a:srgbClr val="93A0B0"/>
                </a:solidFill>
                <a:latin typeface="Arial" pitchFamily="34" charset="0"/>
                <a:ea typeface="Arial" pitchFamily="34" charset="-122"/>
                <a:cs typeface="Arial" pitchFamily="34" charset="-120"/>
              </a:rPr>
              <a:t>Kpler, Vortexa, S&amp;P and Wood Mackenzie built a multi-billion-dollar market selling </a:t>
            </a:r>
            <a:pPr indent="0" marL="0">
              <a:lnSpc>
                <a:spcPts val="2000"/>
              </a:lnSpc>
              <a:buNone/>
            </a:pPr>
            <a:r>
              <a:rPr lang="en-US" sz="1400" b="1" dirty="0">
                <a:solidFill>
                  <a:srgbClr val="E8EDF2"/>
                </a:solidFill>
                <a:latin typeface="Arial" pitchFamily="34" charset="0"/>
                <a:ea typeface="Arial" pitchFamily="34" charset="-122"/>
                <a:cs typeface="Arial" pitchFamily="34" charset="-120"/>
              </a:rPr>
              <a:t>monitoring</a:t>
            </a:r>
            <a:pPr indent="0" marL="0">
              <a:lnSpc>
                <a:spcPts val="2000"/>
              </a:lnSpc>
              <a:buNone/>
            </a:pPr>
            <a:r>
              <a:rPr lang="en-US" sz="1400" dirty="0">
                <a:solidFill>
                  <a:srgbClr val="93A0B0"/>
                </a:solidFill>
                <a:latin typeface="Arial" pitchFamily="34" charset="0"/>
                <a:ea typeface="Arial" pitchFamily="34" charset="-122"/>
                <a:cs typeface="Arial" pitchFamily="34" charset="-120"/>
              </a:rPr>
              <a:t>. KARNADHAR sells the </a:t>
            </a:r>
            <a:pPr indent="0" marL="0">
              <a:lnSpc>
                <a:spcPts val="2000"/>
              </a:lnSpc>
              <a:buNone/>
            </a:pPr>
            <a:r>
              <a:rPr lang="en-US" sz="1400" b="1" dirty="0">
                <a:solidFill>
                  <a:srgbClr val="5DCAA5"/>
                </a:solidFill>
                <a:latin typeface="Arial" pitchFamily="34" charset="0"/>
                <a:ea typeface="Arial" pitchFamily="34" charset="-122"/>
                <a:cs typeface="Arial" pitchFamily="34" charset="-120"/>
              </a:rPr>
              <a:t>decision layer</a:t>
            </a:r>
            <a:pPr indent="0" marL="0">
              <a:lnSpc>
                <a:spcPts val="2000"/>
              </a:lnSpc>
              <a:buNone/>
            </a:pPr>
            <a:r>
              <a:rPr lang="en-US" sz="1400" dirty="0">
                <a:solidFill>
                  <a:srgbClr val="93A0B0"/>
                </a:solidFill>
                <a:latin typeface="Arial" pitchFamily="34" charset="0"/>
                <a:ea typeface="Arial" pitchFamily="34" charset="-122"/>
                <a:cs typeface="Arial" pitchFamily="34" charset="-120"/>
              </a:rPr>
              <a:t> — the feasible, grade-aware action plan — AI-native and India-first.</a:t>
            </a:r>
            <a:endParaRPr lang="en-US" sz="1400" dirty="0"/>
          </a:p>
        </p:txBody>
      </p:sp>
      <p:sp>
        <p:nvSpPr>
          <p:cNvPr id="5" name="Text 3"/>
          <p:cNvSpPr/>
          <p:nvPr/>
        </p:nvSpPr>
        <p:spPr>
          <a:xfrm>
            <a:off x="548640" y="2514600"/>
            <a:ext cx="45720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WHO PAYS</a:t>
            </a:r>
            <a:endParaRPr lang="en-US" sz="1100" dirty="0"/>
          </a:p>
        </p:txBody>
      </p:sp>
      <p:sp>
        <p:nvSpPr>
          <p:cNvPr id="6" name="Shape 4"/>
          <p:cNvSpPr/>
          <p:nvPr/>
        </p:nvSpPr>
        <p:spPr>
          <a:xfrm>
            <a:off x="548640" y="2880360"/>
            <a:ext cx="2606040" cy="1024128"/>
          </a:xfrm>
          <a:prstGeom prst="roundRect">
            <a:avLst>
              <a:gd name="adj" fmla="val 6250"/>
            </a:avLst>
          </a:prstGeom>
          <a:solidFill>
            <a:srgbClr val="121926"/>
          </a:solidFill>
          <a:ln w="9525">
            <a:solidFill>
              <a:srgbClr val="243040"/>
            </a:solidFill>
            <a:prstDash val="solid"/>
          </a:ln>
        </p:spPr>
      </p:sp>
      <p:sp>
        <p:nvSpPr>
          <p:cNvPr id="7" name="Text 5"/>
          <p:cNvSpPr/>
          <p:nvPr/>
        </p:nvSpPr>
        <p:spPr>
          <a:xfrm>
            <a:off x="73152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Refiners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IOCL · BPCL · HPCL · RIL · Nayara</a:t>
            </a:r>
            <a:endParaRPr lang="en-US" sz="1350" dirty="0"/>
          </a:p>
        </p:txBody>
      </p:sp>
      <p:sp>
        <p:nvSpPr>
          <p:cNvPr id="8" name="Shape 6"/>
          <p:cNvSpPr/>
          <p:nvPr/>
        </p:nvSpPr>
        <p:spPr>
          <a:xfrm>
            <a:off x="3337560" y="2880360"/>
            <a:ext cx="2606040" cy="1024128"/>
          </a:xfrm>
          <a:prstGeom prst="roundRect">
            <a:avLst>
              <a:gd name="adj" fmla="val 6250"/>
            </a:avLst>
          </a:prstGeom>
          <a:solidFill>
            <a:srgbClr val="121926"/>
          </a:solidFill>
          <a:ln w="9525">
            <a:solidFill>
              <a:srgbClr val="243040"/>
            </a:solidFill>
            <a:prstDash val="solid"/>
          </a:ln>
        </p:spPr>
      </p:sp>
      <p:sp>
        <p:nvSpPr>
          <p:cNvPr id="9" name="Text 7"/>
          <p:cNvSpPr/>
          <p:nvPr/>
        </p:nvSpPr>
        <p:spPr>
          <a:xfrm>
            <a:off x="352044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Traders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desks living on disruption signals</a:t>
            </a:r>
            <a:endParaRPr lang="en-US" sz="1350" dirty="0"/>
          </a:p>
        </p:txBody>
      </p:sp>
      <p:sp>
        <p:nvSpPr>
          <p:cNvPr id="10" name="Shape 8"/>
          <p:cNvSpPr/>
          <p:nvPr/>
        </p:nvSpPr>
        <p:spPr>
          <a:xfrm>
            <a:off x="548640" y="4050792"/>
            <a:ext cx="2606040" cy="1024128"/>
          </a:xfrm>
          <a:prstGeom prst="roundRect">
            <a:avLst>
              <a:gd name="adj" fmla="val 6250"/>
            </a:avLst>
          </a:prstGeom>
          <a:solidFill>
            <a:srgbClr val="121926"/>
          </a:solidFill>
          <a:ln w="9525">
            <a:solidFill>
              <a:srgbClr val="243040"/>
            </a:solidFill>
            <a:prstDash val="solid"/>
          </a:ln>
        </p:spPr>
      </p:sp>
      <p:sp>
        <p:nvSpPr>
          <p:cNvPr id="11" name="Text 9"/>
          <p:cNvSpPr/>
          <p:nvPr/>
        </p:nvSpPr>
        <p:spPr>
          <a:xfrm>
            <a:off x="73152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Shippers &amp; insurers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chokepoint risk = pricing</a:t>
            </a:r>
            <a:endParaRPr lang="en-US" sz="1350" dirty="0"/>
          </a:p>
        </p:txBody>
      </p:sp>
      <p:sp>
        <p:nvSpPr>
          <p:cNvPr id="12" name="Shape 10"/>
          <p:cNvSpPr/>
          <p:nvPr/>
        </p:nvSpPr>
        <p:spPr>
          <a:xfrm>
            <a:off x="3337560" y="4050792"/>
            <a:ext cx="2606040" cy="1024128"/>
          </a:xfrm>
          <a:prstGeom prst="roundRect">
            <a:avLst>
              <a:gd name="adj" fmla="val 6250"/>
            </a:avLst>
          </a:prstGeom>
          <a:solidFill>
            <a:srgbClr val="121926"/>
          </a:solidFill>
          <a:ln w="9525">
            <a:solidFill>
              <a:srgbClr val="243040"/>
            </a:solidFill>
            <a:prstDash val="solid"/>
          </a:ln>
        </p:spPr>
      </p:sp>
      <p:sp>
        <p:nvSpPr>
          <p:cNvPr id="13" name="Text 11"/>
          <p:cNvSpPr/>
          <p:nvPr/>
        </p:nvSpPr>
        <p:spPr>
          <a:xfrm>
            <a:off x="352044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Government
</a:t>
            </a:r>
            <a:pPr indent="0" marL="0">
              <a:lnSpc>
                <a:spcPts val="1500"/>
              </a:lnSpc>
              <a:buNone/>
            </a:pPr>
            <a:r>
              <a:rPr lang="en-US" sz="1050" dirty="0">
                <a:solidFill>
                  <a:srgbClr val="93A0B0"/>
                </a:solidFill>
                <a:latin typeface="Arial" pitchFamily="34" charset="0"/>
                <a:ea typeface="Arial" pitchFamily="34" charset="-122"/>
                <a:cs typeface="Arial" pitchFamily="34" charset="-120"/>
              </a:rPr>
              <a:t>PPAC · ISPRL · MoPNG — the anchor</a:t>
            </a:r>
            <a:endParaRPr lang="en-US" sz="1350" dirty="0"/>
          </a:p>
        </p:txBody>
      </p:sp>
      <p:sp>
        <p:nvSpPr>
          <p:cNvPr id="14" name="Text 12"/>
          <p:cNvSpPr/>
          <p:nvPr/>
        </p:nvSpPr>
        <p:spPr>
          <a:xfrm>
            <a:off x="6400800" y="2514600"/>
            <a:ext cx="50292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THREE AXES OF SCALE</a:t>
            </a:r>
            <a:endParaRPr lang="en-US" sz="1100" dirty="0"/>
          </a:p>
        </p:txBody>
      </p:sp>
      <p:sp>
        <p:nvSpPr>
          <p:cNvPr id="15" name="Shape 13"/>
          <p:cNvSpPr/>
          <p:nvPr/>
        </p:nvSpPr>
        <p:spPr>
          <a:xfrm>
            <a:off x="6400800" y="2880360"/>
            <a:ext cx="5239512" cy="896112"/>
          </a:xfrm>
          <a:prstGeom prst="roundRect">
            <a:avLst>
              <a:gd name="adj" fmla="val 7143"/>
            </a:avLst>
          </a:prstGeom>
          <a:solidFill>
            <a:srgbClr val="121926"/>
          </a:solidFill>
          <a:ln w="9525">
            <a:solidFill>
              <a:srgbClr val="243040"/>
            </a:solidFill>
            <a:prstDash val="solid"/>
          </a:ln>
        </p:spPr>
      </p:sp>
      <p:sp>
        <p:nvSpPr>
          <p:cNvPr id="16" name="Text 14"/>
          <p:cNvSpPr/>
          <p:nvPr/>
        </p:nvSpPr>
        <p:spPr>
          <a:xfrm>
            <a:off x="6629400" y="2971800"/>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5DCAA5"/>
                </a:solidFill>
                <a:latin typeface="Arial" pitchFamily="34" charset="0"/>
                <a:ea typeface="Arial" pitchFamily="34" charset="-122"/>
                <a:cs typeface="Arial" pitchFamily="34" charset="-120"/>
              </a:rPr>
              <a:t>1 · Segments   </a:t>
            </a:r>
            <a:pPr indent="0" marL="0">
              <a:lnSpc>
                <a:spcPts val="1500"/>
              </a:lnSpc>
              <a:buNone/>
            </a:pPr>
            <a:r>
              <a:rPr lang="en-US" sz="1150" dirty="0">
                <a:solidFill>
                  <a:srgbClr val="93A0B0"/>
                </a:solidFill>
                <a:latin typeface="Arial" pitchFamily="34" charset="0"/>
                <a:ea typeface="Arial" pitchFamily="34" charset="-122"/>
                <a:cs typeface="Arial" pitchFamily="34" charset="-120"/>
              </a:rPr>
              <a:t>refiner → trader → insurer → sovereign (same engine, 7 buyer types)</a:t>
            </a:r>
            <a:endParaRPr lang="en-US" sz="1350" dirty="0"/>
          </a:p>
        </p:txBody>
      </p:sp>
      <p:sp>
        <p:nvSpPr>
          <p:cNvPr id="17" name="Shape 15"/>
          <p:cNvSpPr/>
          <p:nvPr/>
        </p:nvSpPr>
        <p:spPr>
          <a:xfrm>
            <a:off x="6400800" y="3913632"/>
            <a:ext cx="5239512" cy="896112"/>
          </a:xfrm>
          <a:prstGeom prst="roundRect">
            <a:avLst>
              <a:gd name="adj" fmla="val 7143"/>
            </a:avLst>
          </a:prstGeom>
          <a:solidFill>
            <a:srgbClr val="121926"/>
          </a:solidFill>
          <a:ln w="9525">
            <a:solidFill>
              <a:srgbClr val="243040"/>
            </a:solidFill>
            <a:prstDash val="solid"/>
          </a:ln>
        </p:spPr>
      </p:sp>
      <p:sp>
        <p:nvSpPr>
          <p:cNvPr id="18" name="Text 16"/>
          <p:cNvSpPr/>
          <p:nvPr/>
        </p:nvSpPr>
        <p:spPr>
          <a:xfrm>
            <a:off x="6629400" y="4005072"/>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F2A623"/>
                </a:solidFill>
                <a:latin typeface="Arial" pitchFamily="34" charset="0"/>
                <a:ea typeface="Arial" pitchFamily="34" charset="-122"/>
                <a:cs typeface="Arial" pitchFamily="34" charset="-120"/>
              </a:rPr>
              <a:t>2 · Geography   </a:t>
            </a:r>
            <a:pPr indent="0" marL="0">
              <a:lnSpc>
                <a:spcPts val="1500"/>
              </a:lnSpc>
              <a:buNone/>
            </a:pPr>
            <a:r>
              <a:rPr lang="en-US" sz="1150" dirty="0">
                <a:solidFill>
                  <a:srgbClr val="93A0B0"/>
                </a:solidFill>
                <a:latin typeface="Arial" pitchFamily="34" charset="0"/>
                <a:ea typeface="Arial" pitchFamily="34" charset="-122"/>
                <a:cs typeface="Arial" pitchFamily="34" charset="-120"/>
              </a:rPr>
              <a:t>50+ import-dependent economies share this exact anatomy — Japan, Korea, Turkey, Philippines…</a:t>
            </a:r>
            <a:endParaRPr lang="en-US" sz="1350" dirty="0"/>
          </a:p>
        </p:txBody>
      </p:sp>
      <p:sp>
        <p:nvSpPr>
          <p:cNvPr id="19" name="Shape 17"/>
          <p:cNvSpPr/>
          <p:nvPr/>
        </p:nvSpPr>
        <p:spPr>
          <a:xfrm>
            <a:off x="6400800" y="4946904"/>
            <a:ext cx="5239512" cy="896112"/>
          </a:xfrm>
          <a:prstGeom prst="roundRect">
            <a:avLst>
              <a:gd name="adj" fmla="val 7143"/>
            </a:avLst>
          </a:prstGeom>
          <a:solidFill>
            <a:srgbClr val="121926"/>
          </a:solidFill>
          <a:ln w="9525">
            <a:solidFill>
              <a:srgbClr val="243040"/>
            </a:solidFill>
            <a:prstDash val="solid"/>
          </a:ln>
        </p:spPr>
      </p:sp>
      <p:sp>
        <p:nvSpPr>
          <p:cNvPr id="20" name="Text 18"/>
          <p:cNvSpPr/>
          <p:nvPr/>
        </p:nvSpPr>
        <p:spPr>
          <a:xfrm>
            <a:off x="6629400" y="5038344"/>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4B96DC"/>
                </a:solidFill>
                <a:latin typeface="Arial" pitchFamily="34" charset="0"/>
                <a:ea typeface="Arial" pitchFamily="34" charset="-122"/>
                <a:cs typeface="Arial" pitchFamily="34" charset="-120"/>
              </a:rPr>
              <a:t>3 · Commodity   </a:t>
            </a:r>
            <a:pPr indent="0" marL="0">
              <a:lnSpc>
                <a:spcPts val="1500"/>
              </a:lnSpc>
              <a:buNone/>
            </a:pPr>
            <a:r>
              <a:rPr lang="en-US" sz="1150" dirty="0">
                <a:solidFill>
                  <a:srgbClr val="93A0B0"/>
                </a:solidFill>
                <a:latin typeface="Arial" pitchFamily="34" charset="0"/>
                <a:ea typeface="Arial" pitchFamily="34" charset="-122"/>
                <a:cs typeface="Arial" pitchFamily="34" charset="-120"/>
              </a:rPr>
              <a:t>demonstrated LIVE in-app: 8 strategic imports screened — LNG, pharma APIs, semiconductors… (Hormuz hits 53% of LNG)</a:t>
            </a:r>
            <a:endParaRPr lang="en-US" sz="1350" dirty="0"/>
          </a:p>
        </p:txBody>
      </p:sp>
      <p:sp>
        <p:nvSpPr>
          <p:cNvPr id="21" name="Text 19"/>
          <p:cNvSpPr/>
          <p:nvPr/>
        </p:nvSpPr>
        <p:spPr>
          <a:xfrm>
            <a:off x="548640" y="6172200"/>
            <a:ext cx="11064240" cy="502920"/>
          </a:xfrm>
          <a:prstGeom prst="rect">
            <a:avLst/>
          </a:prstGeom>
          <a:noFill/>
          <a:ln/>
        </p:spPr>
        <p:txBody>
          <a:bodyPr wrap="square" lIns="0" tIns="0" rIns="0" bIns="0" rtlCol="0" anchor="ctr"/>
          <a:lstStyle/>
          <a:p>
            <a:pPr indent="0" marL="0">
              <a:buNone/>
            </a:pPr>
            <a:r>
              <a:rPr lang="en-US" sz="1250" dirty="0">
                <a:solidFill>
                  <a:srgbClr val="93A0B0"/>
                </a:solidFill>
                <a:latin typeface="Arial" pitchFamily="34" charset="0"/>
                <a:ea typeface="Arial" pitchFamily="34" charset="-122"/>
                <a:cs typeface="Arial" pitchFamily="34" charset="-120"/>
              </a:rPr>
              <a:t>Model: tiered SaaS — Monitor → Simulate → Orchestrate — plus API licensing. Land commercial desks first (months, not years); the sovereign deployment is the moat and the mission.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rcRect l="0" r="0" t="0" b="28977"/>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0B0F15">
              <a:alpha val="75000"/>
            </a:srgbClr>
          </a:solidFill>
          <a:ln/>
        </p:spPr>
      </p:sp>
      <p:sp>
        <p:nvSpPr>
          <p:cNvPr id="4" name="Text 1"/>
          <p:cNvSpPr/>
          <p:nvPr/>
        </p:nvSpPr>
        <p:spPr>
          <a:xfrm>
            <a:off x="640080" y="548640"/>
            <a:ext cx="548640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NEXT 90 DAYS</a:t>
            </a:r>
            <a:endParaRPr lang="en-US" sz="1200" dirty="0"/>
          </a:p>
        </p:txBody>
      </p:sp>
      <p:sp>
        <p:nvSpPr>
          <p:cNvPr id="5" name="Text 2"/>
          <p:cNvSpPr/>
          <p:nvPr/>
        </p:nvSpPr>
        <p:spPr>
          <a:xfrm>
            <a:off x="640080" y="914400"/>
            <a:ext cx="7772400" cy="13716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Refinery configs calibrated with Prof. Bhui’s written inputs (in progress)</a:t>
            </a:r>
            <a:endParaRPr lang="en-US" sz="1400" dirty="0"/>
          </a:p>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Commercial AIS feed for dense Gulf coverage; Claude-authored live briefs</a:t>
            </a:r>
            <a:endParaRPr lang="en-US" sz="1400" dirty="0"/>
          </a:p>
          <a:p>
            <a:pPr marL="342900" indent="-342900">
              <a:spcAft>
                <a:spcPts val="800"/>
              </a:spcAft>
              <a:buSzPct val="100000"/>
              <a:buChar char="→"/>
            </a:pPr>
            <a:r>
              <a:rPr lang="en-US" sz="1400" dirty="0">
                <a:solidFill>
                  <a:srgbClr val="E8EDF2"/>
                </a:solidFill>
                <a:latin typeface="Arial" pitchFamily="34" charset="0"/>
                <a:ea typeface="Arial" pitchFamily="34" charset="-122"/>
                <a:cs typeface="Arial" pitchFamily="34" charset="-120"/>
              </a:rPr>
              <a:t>Pilot conversations: PPAC · ISPRL — the analysis they do in days, in 45 ms</a:t>
            </a:r>
            <a:endParaRPr lang="en-US" sz="1400" dirty="0"/>
          </a:p>
        </p:txBody>
      </p:sp>
      <p:sp>
        <p:nvSpPr>
          <p:cNvPr id="6" name="Text 3"/>
          <p:cNvSpPr/>
          <p:nvPr/>
        </p:nvSpPr>
        <p:spPr>
          <a:xfrm>
            <a:off x="640080" y="3108960"/>
            <a:ext cx="10881360" cy="548640"/>
          </a:xfrm>
          <a:prstGeom prst="rect">
            <a:avLst/>
          </a:prstGeom>
          <a:noFill/>
          <a:ln/>
        </p:spPr>
        <p:txBody>
          <a:bodyPr wrap="square" lIns="0" tIns="0" rIns="0" bIns="0" rtlCol="0" anchor="ctr"/>
          <a:lstStyle/>
          <a:p>
            <a:pPr indent="0" marL="0">
              <a:buNone/>
            </a:pPr>
            <a:r>
              <a:rPr lang="en-US" sz="2600" b="1" dirty="0">
                <a:solidFill>
                  <a:srgbClr val="E8EDF2"/>
                </a:solidFill>
                <a:latin typeface="Arial" pitchFamily="34" charset="0"/>
                <a:ea typeface="Arial" pitchFamily="34" charset="-122"/>
                <a:cs typeface="Arial" pitchFamily="34" charset="-120"/>
              </a:rPr>
              <a:t>India’s energy lifeline has no helmsman for the storm.</a:t>
            </a:r>
            <a:endParaRPr lang="en-US" sz="2600" dirty="0"/>
          </a:p>
        </p:txBody>
      </p:sp>
      <p:sp>
        <p:nvSpPr>
          <p:cNvPr id="7" name="Text 4"/>
          <p:cNvSpPr/>
          <p:nvPr/>
        </p:nvSpPr>
        <p:spPr>
          <a:xfrm>
            <a:off x="640080" y="3703320"/>
            <a:ext cx="10881360" cy="82296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Now it does.</a:t>
            </a:r>
            <a:endParaRPr lang="en-US" sz="4400" dirty="0"/>
          </a:p>
        </p:txBody>
      </p:sp>
      <p:sp>
        <p:nvSpPr>
          <p:cNvPr id="8" name="Text 5"/>
          <p:cNvSpPr/>
          <p:nvPr/>
        </p:nvSpPr>
        <p:spPr>
          <a:xfrm>
            <a:off x="640080" y="5989320"/>
            <a:ext cx="10881360" cy="365760"/>
          </a:xfrm>
          <a:prstGeom prst="rect">
            <a:avLst/>
          </a:prstGeom>
          <a:noFill/>
          <a:ln/>
        </p:spPr>
        <p:txBody>
          <a:bodyPr wrap="square" lIns="0" tIns="0" rIns="0" bIns="0" rtlCol="0" anchor="ctr"/>
          <a:lstStyle/>
          <a:p>
            <a:pPr indent="0" marL="0">
              <a:buNone/>
            </a:pPr>
            <a:r>
              <a:rPr lang="en-US" sz="1600" b="1" dirty="0">
                <a:solidFill>
                  <a:srgbClr val="E8EDF2"/>
                </a:solidFill>
                <a:latin typeface="Arial" pitchFamily="34" charset="0"/>
                <a:ea typeface="Arial" pitchFamily="34" charset="-122"/>
                <a:cs typeface="Arial" pitchFamily="34" charset="-120"/>
              </a:rPr>
              <a:t>KARNADHAR</a:t>
            </a:r>
            <a:pPr indent="0" marL="0">
              <a:buNone/>
            </a:pPr>
            <a:r>
              <a:rPr lang="en-US" sz="1300" dirty="0">
                <a:solidFill>
                  <a:srgbClr val="93A0B0"/>
                </a:solidFill>
                <a:latin typeface="Arial" pitchFamily="34" charset="0"/>
                <a:ea typeface="Arial" pitchFamily="34" charset="-122"/>
                <a:cs typeface="Arial" pitchFamily="34" charset="-120"/>
              </a:rPr>
              <a:t>   ·   Mann Sutariya · PDEU · mannsutaria2605@gmail.com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KARNADHAR — Energy Supply-Chain Resilience</dc:title>
  <dc:subject>PptxGenJS Presentation</dc:subject>
  <dc:creator>Team KARNADHAR</dc:creator>
  <cp:lastModifiedBy>Team KARNADHAR</cp:lastModifiedBy>
  <cp:revision>1</cp:revision>
  <dcterms:created xsi:type="dcterms:W3CDTF">2026-07-20T19:06:29Z</dcterms:created>
  <dcterms:modified xsi:type="dcterms:W3CDTF">2026-07-20T19:06:29Z</dcterms:modified>
</cp:coreProperties>
</file>